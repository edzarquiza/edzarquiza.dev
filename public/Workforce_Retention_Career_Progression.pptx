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simulated HR analytics case study using a multi-table dataset. Three Tableau dashboards, one question: where is retention pressure concentrated across the workforce — and what does it tell us about where to investigate?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argument is segmentation. A single 28.4% termination rate across 1,562 employees is not actionable. Segment by tenure, career level and performance and suddenly you can see where the pressure is 50% versus 19% — and that is where investigation should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the audience. 1,562 employees, 444 terminated, 28.4% overall rate. Then show the tenure split immediately — the 2–5 year group at 50% against 19% for 5+ year employees is the headline number that everything else explains.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50% vs 19% comparison is the clearest number in the project. Employees who make it to 2–5 years are the most at risk. That gap is 31 percentage points — and it persists across performance ratings, which the next slide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line at 28.4% shows that many individual career levels sit substantially above the average. This is the argument for segmentation: a company-wide number cannot guide action. Career levels above 40% termination rate need individual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counter-intuitive finding that makes the analysis stronger. Low performers have the lowest termination rate (19.4%). Average performers have the highest (25.3%). If a stakeholder assumed we only needed to retain high performers, this slide challenges that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analytically rich slide. Every performance rating in the 2–5 year column shows 42–49% termination. That consistency across ratings means this cannot be explained by performance. The problem is tenure-stage, not performance level — which completely changes what HR should investigate.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3 focuses on the active workforce only. 812 of 1,118 active employees have 5+ years of tenure. The most populated career band is Level 21–25. Performance centres around Average (3). This is the stability picture — and it also shows where experienced workforce depth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findings build on each other. Finding 1 names the group. Finding 2 adds career-level nuance. Finding 3 challenges the performance assumption. Finding 4 seals it — the 2–5 year pattern is not a performance story, it is a tenure-stage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recommendations have evidence directly in the data. The third challenges a common assumption. The fourth is the standing instruction. Note the caveat at the bottom: this analysis identifies where to look, not what the intervention should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reasoning. The 2–5 year tenure group is the primary target. But the analysis is honest about what it cannot do — it cannot explain why employees leave. That requires engagement data, compensation records, exit interviews, promotion history. The dashboard is the start of that conversation, not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 ·  PORTFOLIO CASE STUDY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Retention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Career Progression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3308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Workforce Stability, Retention Pressure,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Career Development Patterns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DASHBOARDS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961120" y="1920240"/>
            <a:ext cx="2560320" cy="65836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52560" y="1993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9751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Stability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61120" y="2724912"/>
            <a:ext cx="2560320" cy="65836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0" y="2798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27797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Pressure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3529584"/>
            <a:ext cx="2560320" cy="65836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36027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 &amp; Progression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10820095" cy="18288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Dataset  ·  Tableau  ·  Multi-Table Data Model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Jon Arquiza  ·  2026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76072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business case for portfolio purposes.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BUSINESS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overall termination rate hides where the problem is.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overall termination rate tells HR that turnover is happening.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tell HR where, among whom, or why.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700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LEADERSHIP NEEDS TO UNDERSTAND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3127248"/>
            <a:ext cx="292608" cy="292608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03580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tenure groups have the highest termination rates?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292608" cy="292608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6616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career levels show elevated turnover?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187952"/>
            <a:ext cx="292608" cy="292608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09651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performance explain retention pressure — or is it broader?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4718304"/>
            <a:ext cx="292608" cy="292608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62686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active workforce distributed across tenure and career level?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98080" y="1828800"/>
            <a:ext cx="4005072" cy="422452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48716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relying on a single workforce-wide metric, the analysis segments the workforce by tenure, career level, and performance to identify where retention pressure is concentrated.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3858768"/>
            <a:ext cx="731520" cy="27432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0" y="40690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Workforce Stability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57200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Retention Pressure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0749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Career Development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5532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identify patterns, not causes.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WORKFORCE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1,562 employees. 28.4% overall termination rate.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560320" cy="1508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1,562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560320" cy="1508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1,118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2560320" cy="1508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560320" cy="1508760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28.4%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822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SNAPSHOT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2542032" cy="1508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Year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46268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total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" y="4919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38.7%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29000" y="4160520"/>
            <a:ext cx="2542032" cy="1508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93592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Years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93592" y="46268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total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593592" y="4919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38.9%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4160520"/>
            <a:ext cx="2542032" cy="1508760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36792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Years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46268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total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4919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 ◄ HIGHEST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915400" y="4160520"/>
            <a:ext cx="2542032" cy="1508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79992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079992" y="46268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 total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79992" y="4919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19.0%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2–5 year tenure group stands out immediately — both as a strategic risk and as the primary focus for further investigation.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WORKFORCE STABILITY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Mid-tenure employees show the highest termination rate at 50%.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65376"/>
            <a:ext cx="568756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8"/>
            </a:solidFill>
            <a:prstDash val="solid"/>
          </a:ln>
        </p:spPr>
      </p:sp>
      <p:pic>
        <p:nvPicPr>
          <p:cNvPr id="5" name="Image 0" descr="wf/tenure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5577840" cy="29077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9194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 by tenure band — Dashboard 1 of 3.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92240" y="1920240"/>
            <a:ext cx="5010912" cy="1417320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48272" y="2029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6748272" y="27066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2–5 year employees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92240" y="3456432"/>
            <a:ext cx="5010912" cy="804672"/>
          </a:xfrm>
          <a:prstGeom prst="rect">
            <a:avLst/>
          </a:prstGeom>
          <a:solidFill>
            <a:srgbClr val="F0E8D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20840" y="3456432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19.0%  among 5+ year employees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92240" y="4370832"/>
            <a:ext cx="5010912" cy="16916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48272" y="4572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MATTERS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748272" y="4901184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survive their first two years and reach the 2–5 year stage are exiting at twice the rate of the long-tenured workforce. This is the window where retention intervention may have the greatest potential impact.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WORKFORCE STABILITY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Termination rates vary substantially across career levels.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8339328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8"/>
            </a:solidFill>
            <a:prstDash val="solid"/>
          </a:ln>
        </p:spPr>
      </p:sp>
      <p:pic>
        <p:nvPicPr>
          <p:cNvPr id="5" name="Image 0" descr="wf/career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01952"/>
            <a:ext cx="8229600" cy="2615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 by career level — 28.4% overall reference line shown. Dashboard 1 of 3.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144000" y="1901952"/>
            <a:ext cx="2359152" cy="294436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345168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345168" y="2423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28.4%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345168" y="27980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345168" y="3108960"/>
            <a:ext cx="1645920" cy="18288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45168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51.7%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345168" y="36210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level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0749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an organisation-wide rate conceals this variation. Several career levels show termination rates above 40% — nearly double the overall benchmark.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7424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Career-level segmentation provides HR with specific targets for further investigation.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RETENTION PRESSURE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Termination is not concentrated among low performers alone.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65376"/>
            <a:ext cx="5550408" cy="341985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8"/>
            </a:solidFill>
            <a:prstDash val="solid"/>
          </a:ln>
        </p:spPr>
      </p:sp>
      <p:pic>
        <p:nvPicPr>
          <p:cNvPr id="5" name="Image 0" descr="wf/perf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5440680" cy="3310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3218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 by performance rating — Dashboard 2 of 3.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0" y="1920240"/>
            <a:ext cx="4919472" cy="331012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12280" y="2176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PERFORMANCE DATA SHOWS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12280" y="2606040"/>
            <a:ext cx="4434840" cy="56692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9516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(3)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898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25.3%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898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termination rate by rating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12280" y="3291840"/>
            <a:ext cx="4434840" cy="56692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95160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 (4)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584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23.2%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5844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highest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12280" y="3977640"/>
            <a:ext cx="4434840" cy="56692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9516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rating (5)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4270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20.7%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42702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meaningful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12280" y="4663440"/>
            <a:ext cx="4434840" cy="56692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95160" y="4709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rating (1)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4956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19.4%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49560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the lowest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83680" y="5394960"/>
            <a:ext cx="4919472" cy="777240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12280" y="5394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 does not predict who leaves.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pressure is distributed across ratings.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RETENTION PRESSURE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2–5 year group shows elevated termination across every performance rating.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30936" y="1883664"/>
            <a:ext cx="710488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8"/>
            </a:solidFill>
            <a:prstDash val="solid"/>
          </a:ln>
        </p:spPr>
      </p:sp>
      <p:pic>
        <p:nvPicPr>
          <p:cNvPr id="5" name="Image 0" descr="wf/perf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38528"/>
            <a:ext cx="6995160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504688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rate: performance × tenure — heat map highlights concentrations. Dashboard 2 of 3.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0" y="1938528"/>
            <a:ext cx="3273552" cy="34747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30768" y="2194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PATTERN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430768" y="2578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across the 2–5 Years column: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30768" y="2999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893808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42.86%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30768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Avg: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893808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46.20%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30768" y="37673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893808" y="3767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48.83%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41513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Avg: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893808" y="4151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48.91%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430768" y="45354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893808" y="4535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46.23%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0" y="4983480"/>
            <a:ext cx="3273552" cy="548640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394192" y="49834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across ALL ratings — this is a tenure problem, not a performance problem.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CAREER DEVELOPMENT &amp; PROGRESSION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active workforce is concentrated among long-tenured, mid-career employees.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WORKFORCE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2231136"/>
            <a:ext cx="3401568" cy="98755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5.97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06824" y="2231136"/>
            <a:ext cx="3401568" cy="98755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35424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3.01 / 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2926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PERFORMANCE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927848" y="2231136"/>
            <a:ext cx="3401568" cy="98755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56448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2926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5+ YR GROUP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" y="3328416"/>
            <a:ext cx="2624328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8"/>
            </a:solidFill>
            <a:prstDash val="solid"/>
          </a:ln>
        </p:spPr>
      </p:sp>
      <p:pic>
        <p:nvPicPr>
          <p:cNvPr id="15" name="Image 0" descr="wf/d3_ten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514600" cy="239572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58768" y="3328416"/>
            <a:ext cx="2487168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8"/>
            </a:solidFill>
            <a:prstDash val="solid"/>
          </a:ln>
        </p:spPr>
      </p:sp>
      <p:pic>
        <p:nvPicPr>
          <p:cNvPr id="17" name="Image 1" descr="wf/d3_care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3383280"/>
            <a:ext cx="2377440" cy="239572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55664" y="3328416"/>
            <a:ext cx="2926080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8"/>
            </a:solidFill>
            <a:prstDash val="solid"/>
          </a:ln>
        </p:spPr>
      </p:sp>
      <p:pic>
        <p:nvPicPr>
          <p:cNvPr id="19" name="Image 2" descr="wf/d3_per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383280"/>
            <a:ext cx="2816352" cy="23957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5800" y="5852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3913632" y="5852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Band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510528" y="585216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× Career Level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workforce signals stand out.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166360" cy="193852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1832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560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MID-TENURE RISK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907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2735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2–5 years of tenure show the highest termination rate — 31 points above the 5+ year group.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2011680"/>
            <a:ext cx="5166360" cy="1938528"/>
          </a:xfrm>
          <a:prstGeom prst="rect">
            <a:avLst/>
          </a:prstGeom>
          <a:solidFill>
            <a:srgbClr val="F0E8D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560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LEVEL VARIATION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36792" y="2907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51.7%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32735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rates vary substantially across career levels, with some well above the 28.4% overall rate.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096512"/>
            <a:ext cx="5166360" cy="1938528"/>
          </a:xfrm>
          <a:prstGeom prst="rect">
            <a:avLst/>
          </a:prstGeom>
          <a:solidFill>
            <a:srgbClr val="F0E8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4279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6451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DOESN'T PREDICT LEAVING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49926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25.3% highest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535838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performers show the highest termination rate. Low performers show the lowest. Retention pressure is not concentrated among low performers.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4096512"/>
            <a:ext cx="5166360" cy="193852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36792" y="4279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36792" y="46451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IS THE DOMINANT SIGNAL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36792" y="49926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42–49%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535838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2–5 year column in the performance × tenure matrix shows elevated rates across all five performance ratings.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actions emerge from the analysis.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29968"/>
            <a:ext cx="10820095" cy="18288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9456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D3B3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945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21579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INVESTIGATE THE 2–5 YEAR SEGMENT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1579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 termination rate · elevated across all performance ratings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121408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should prioritise this group for deeper investigation: career development opportunities, compensation, promotion pathways, engagement, workload, and manager relationships.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10820095" cy="18288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18211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D3B34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821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19072" y="31455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REVIEW HIGH-TERMINATION CAREER LEVELS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455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up to 51.7% — nearly double the overall benchmark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108960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career levels consistently show elevated termination and investigate whether specific workforce conditions are contributing.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005072"/>
            <a:ext cx="10820095" cy="18288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169664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4A4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19072" y="4133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MONITOR RETENTION BEYOND PERFORMANCE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1330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mid-tenure rates appear across all five performance groups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096512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strategies should not focus only on low performers. Monitoring should span the broader workforce.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992624"/>
            <a:ext cx="10820095" cy="18288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515721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3A3A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51572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719072" y="5120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USE THE DASHBOARD FOR ONGOING MONITORING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identified, not causes — further data required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084064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termination trends by tenure, career level and performance regularly to detect emerging retention risks early.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5961888"/>
            <a:ext cx="10820095" cy="18288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60533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traces back to a pattern in the data. Additional qualitative data — engagement surveys, exit interviews, promotion history — would be required before implementing specific interventions.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638251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Retention &amp; Career Progression  ·  HR Analytics Dataset  ·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747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pPr indent="0" marL="0">
              <a:buNone/>
            </a:pPr>
            <a:r>
              <a:rPr lang="en-US" sz="1000" b="1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ANALYST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9494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not how many employees leave —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where, and among whom.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487168" cy="117043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28.4%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termination rate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1828800"/>
            <a:ext cx="256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487168" cy="117043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192024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2–5 yr group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16168" y="1828800"/>
            <a:ext cx="256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2487168" cy="117043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192024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B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ratings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performance story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59368" y="1828800"/>
            <a:ext cx="256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15400" y="1828800"/>
            <a:ext cx="2487168" cy="1170432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92024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stage first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200400"/>
            <a:ext cx="6492240" cy="1828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34290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D3B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DOES NOT ESTABLISH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0120" y="3794760"/>
            <a:ext cx="73152" cy="73152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88720" y="37307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termination rates do not prove why employees leave.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120" y="4069080"/>
            <a:ext cx="73152" cy="73152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88720" y="40050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groups with elevated rates are areas to investigate, not confirmed causes.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" y="4343400"/>
            <a:ext cx="73152" cy="73152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88720" y="42793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levels with high rates may reflect size, pay, or role characteristics not in this dataset.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" y="4617720"/>
            <a:ext cx="73152" cy="73152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88720" y="45537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 — engagement, compensation, promotion, exit interviews — is required before acting.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80960" y="3200400"/>
            <a:ext cx="3822192" cy="1828800"/>
          </a:xfrm>
          <a:prstGeom prst="rect">
            <a:avLst/>
          </a:prstGeom>
          <a:solidFill>
            <a:srgbClr val="D3B3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09560" y="3291840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dashboard shows HR where to investigate first —  not why employees leave, but which workforce segment should be investigated next.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" y="5285232"/>
            <a:ext cx="10820095" cy="18288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5449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 ·  Multi-Table Data Model  ·  COUNTD(EmpID)  ·  Calculated Fields  ·  Latest Performance Record Logic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544982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Jon Arquiza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Retention &amp; Career Progression Analysis</dc:title>
  <dc:subject>PptxGenJS Presentation</dc:subject>
  <dc:creator>Edward Jon Arquiza</dc:creator>
  <cp:lastModifiedBy>Edward Jon Arquiza</cp:lastModifiedBy>
  <cp:revision>1</cp:revision>
  <dcterms:created xsi:type="dcterms:W3CDTF">2026-09-01T03:47:23Z</dcterms:created>
  <dcterms:modified xsi:type="dcterms:W3CDTF">2026-09-01T03:47:23Z</dcterms:modified>
</cp:coreProperties>
</file>