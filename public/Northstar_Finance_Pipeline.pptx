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3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45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set the context for the audience. This is a complete, automated data engineering and analytics project — not just a dashboard. The five topics on the right mirror the five main presentation sections.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before showing the solution. Three clear pain points that any finance or data-aware stakeholder will recognise immediately. Then the solution as one sentence, supported by the six technology pillars.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one row, then the seven pipeline steps below. Each step is genuinely distinct — this is not padding. Note step 3 is the SHA-256 deduplication which is a key differentiator of the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Two-column layout. Left shows the six validation checks in order of execution. Right shows the three lifecycle outcomes with their folder destinations. The SHA-256 callout at the bottom right is the idempotency guarantee.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of the Power BI dashboard. The five KPI cards at the top give the headline numbers. The trend chart shows monthly invoiced vs paid (the gap is the outstanding receivables). Region bar chart on the right shows where the balance sits.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shows where the risk sits. The top-left stacked bar breaks outstanding balance by customer segment and aging bucket. Enterprise has the largest exposure. The scatter matrix bottom-right plots customers by average days to payment vs outstanding balance — bubble size = overdue balance.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3. Top visual shows payment behaviour profile (early / late / not paid / on time) by customer segment. Bottom-left is the payment heatmap showing percentages — Enterprise 25% not paid is a flag. Bottom-right is the watchlist: customers with the worst average days to payment and lowest completion rates.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4 is the operational monitoring page. Processing activity over time shows SUCCESS/FAILED/SKIPPED per day. Records Read vs Records Loaded bar shows the input-to-output ratio by file type. Status distribution shows the 80.26% success rate against a ≥95% target. Exception watchlist shows the specific files that failed or were skipped with error messages.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technology components in a 4×2 grid. Each shows its category badge, name, and exactly what it does in this project — not a generic description.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value proposition, not on thanks. The chain on the right is the full pipeline story in six steps — the same journey the audience just walked through. The statement on the left is what differentiates this from a simple reporting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A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2F8F8B"/>
          </a:solidFill>
          <a:ln/>
        </p:spPr>
      </p:sp>
      <p:pic>
        <p:nvPicPr>
          <p:cNvPr id="3" name="Image 0" descr="ns/logo.png"/>
          <p:cNvPicPr>
            <a:picLocks noChangeAspect="1"/>
          </p:cNvPicPr>
          <p:nvPr/>
        </p:nvPicPr>
        <p:blipFill>
          <a:blip r:embed="rId3"/>
          <a:stretch>
            <a:fillRect/>
          </a:stretch>
        </p:blipFill>
        <p:spPr>
          <a:xfrm>
            <a:off x="457200" y="502920"/>
            <a:ext cx="1143000" cy="1152144"/>
          </a:xfrm>
          <a:prstGeom prst="rect">
            <a:avLst/>
          </a:prstGeom>
        </p:spPr>
      </p:pic>
      <p:sp>
        <p:nvSpPr>
          <p:cNvPr id="4" name="Text 1"/>
          <p:cNvSpPr txBox="1"/>
          <p:nvPr/>
        </p:nvSpPr>
        <p:spPr>
          <a:xfrm>
            <a:off x="1783080" y="566928"/>
            <a:ext cx="4572000" cy="5029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NORTHSTAR</a:t>
            </a:r>
            <a:endParaRPr lang="en-US" sz="3200" dirty="0"/>
          </a:p>
        </p:txBody>
      </p:sp>
      <p:sp>
        <p:nvSpPr>
          <p:cNvPr id="5" name="Text 2"/>
          <p:cNvSpPr txBox="1"/>
          <p:nvPr/>
        </p:nvSpPr>
        <p:spPr>
          <a:xfrm>
            <a:off x="1783080" y="1078992"/>
            <a:ext cx="4572000" cy="320040"/>
          </a:xfrm>
          <a:prstGeom prst="rect">
            <a:avLst/>
          </a:prstGeom>
          <a:noFill/>
          <a:ln/>
        </p:spPr>
        <p:txBody>
          <a:bodyPr wrap="square" lIns="0" tIns="0" rIns="0" bIns="0" rtlCol="0" anchor="ctr"/>
          <a:lstStyle/>
          <a:p>
            <a:pPr marL="0" indent="0">
              <a:buNone/>
            </a:pPr>
            <a:r>
              <a:rPr lang="en-US" sz="1600" dirty="0">
                <a:solidFill>
                  <a:srgbClr val="A2C5C3"/>
                </a:solidFill>
                <a:latin typeface="Calibri" pitchFamily="34" charset="0"/>
                <a:ea typeface="Calibri" pitchFamily="34" charset="-122"/>
                <a:cs typeface="Calibri" pitchFamily="34" charset="-120"/>
              </a:rPr>
              <a:t>Distribution Group</a:t>
            </a:r>
            <a:endParaRPr lang="en-US" sz="1600" dirty="0"/>
          </a:p>
        </p:txBody>
      </p:sp>
      <p:sp>
        <p:nvSpPr>
          <p:cNvPr id="6" name="Shape 3"/>
          <p:cNvSpPr/>
          <p:nvPr/>
        </p:nvSpPr>
        <p:spPr>
          <a:xfrm>
            <a:off x="502920" y="1828800"/>
            <a:ext cx="11185855" cy="16459"/>
          </a:xfrm>
          <a:prstGeom prst="rect">
            <a:avLst/>
          </a:prstGeom>
          <a:solidFill>
            <a:srgbClr val="47908C"/>
          </a:solidFill>
          <a:ln/>
        </p:spPr>
      </p:sp>
      <p:sp>
        <p:nvSpPr>
          <p:cNvPr id="7" name="Text 4"/>
          <p:cNvSpPr txBox="1"/>
          <p:nvPr/>
        </p:nvSpPr>
        <p:spPr>
          <a:xfrm>
            <a:off x="502920" y="2148840"/>
            <a:ext cx="6858000" cy="2103120"/>
          </a:xfrm>
          <a:prstGeom prst="rect">
            <a:avLst/>
          </a:prstGeom>
          <a:noFill/>
          <a:ln/>
        </p:spPr>
        <p:txBody>
          <a:bodyPr wrap="square" lIns="0" tIns="0" rIns="0" bIns="0" rtlCol="0" anchor="ctr"/>
          <a:lstStyle/>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Automated Finance</a:t>
            </a:r>
            <a:endParaRPr lang="en-US" sz="4400" dirty="0"/>
          </a:p>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Data Pipeline</a:t>
            </a:r>
            <a:endParaRPr lang="en-US" sz="4400" dirty="0"/>
          </a:p>
        </p:txBody>
      </p:sp>
      <p:sp>
        <p:nvSpPr>
          <p:cNvPr id="8" name="Text 5"/>
          <p:cNvSpPr txBox="1"/>
          <p:nvPr/>
        </p:nvSpPr>
        <p:spPr>
          <a:xfrm>
            <a:off x="502920" y="4370832"/>
            <a:ext cx="6400800" cy="658368"/>
          </a:xfrm>
          <a:prstGeom prst="rect">
            <a:avLst/>
          </a:prstGeom>
          <a:noFill/>
          <a:ln/>
        </p:spPr>
        <p:txBody>
          <a:bodyPr wrap="square" lIns="0" tIns="0" rIns="0" bIns="0" rtlCol="0" anchor="ctr"/>
          <a:lstStyle/>
          <a:p>
            <a:pPr marL="0" indent="0">
              <a:lnSpc>
                <a:spcPct val="118000"/>
              </a:lnSpc>
              <a:buNone/>
            </a:pPr>
            <a:r>
              <a:rPr lang="en-US" sz="1400" dirty="0">
                <a:solidFill>
                  <a:srgbClr val="A2C5C3"/>
                </a:solidFill>
                <a:latin typeface="Calibri" pitchFamily="34" charset="0"/>
                <a:ea typeface="Calibri" pitchFamily="34" charset="-122"/>
                <a:cs typeface="Calibri" pitchFamily="34" charset="-120"/>
              </a:rPr>
              <a:t>End-to-end automated processing of finance CSV files into</a:t>
            </a:r>
            <a:endParaRPr lang="en-US" sz="1400" dirty="0"/>
          </a:p>
          <a:p>
            <a:pPr marL="0" indent="0">
              <a:lnSpc>
                <a:spcPct val="118000"/>
              </a:lnSpc>
              <a:buNone/>
            </a:pPr>
            <a:r>
              <a:rPr lang="en-US" sz="1400" dirty="0">
                <a:solidFill>
                  <a:srgbClr val="A2C5C3"/>
                </a:solidFill>
                <a:latin typeface="Calibri" pitchFamily="34" charset="0"/>
                <a:ea typeface="Calibri" pitchFamily="34" charset="-122"/>
                <a:cs typeface="Calibri" pitchFamily="34" charset="-120"/>
              </a:rPr>
              <a:t>reporting-ready datasets and Power BI analytics.</a:t>
            </a:r>
            <a:endParaRPr lang="en-US" sz="1400" dirty="0"/>
          </a:p>
        </p:txBody>
      </p:sp>
      <p:sp>
        <p:nvSpPr>
          <p:cNvPr id="9" name="Text 6"/>
          <p:cNvSpPr txBox="1"/>
          <p:nvPr/>
        </p:nvSpPr>
        <p:spPr>
          <a:xfrm>
            <a:off x="8412480" y="777240"/>
            <a:ext cx="3273552" cy="237744"/>
          </a:xfrm>
          <a:prstGeom prst="rect">
            <a:avLst/>
          </a:prstGeom>
          <a:noFill/>
          <a:ln/>
        </p:spPr>
        <p:txBody>
          <a:bodyPr wrap="square" lIns="0" tIns="0" rIns="0" bIns="0" rtlCol="0" anchor="ctr"/>
          <a:lstStyle/>
          <a:p>
            <a:pPr marL="0" indent="0">
              <a:buNone/>
            </a:pPr>
            <a:r>
              <a:rPr lang="en-US" sz="900" b="1" kern="0" spc="220" dirty="0">
                <a:solidFill>
                  <a:srgbClr val="A2C5C3"/>
                </a:solidFill>
                <a:latin typeface="Calibri" pitchFamily="34" charset="0"/>
                <a:ea typeface="Calibri" pitchFamily="34" charset="-122"/>
                <a:cs typeface="Calibri" pitchFamily="34" charset="-120"/>
              </a:rPr>
              <a:t>WHAT THIS COVERS</a:t>
            </a:r>
            <a:endParaRPr lang="en-US" sz="900" dirty="0"/>
          </a:p>
        </p:txBody>
      </p:sp>
      <p:sp>
        <p:nvSpPr>
          <p:cNvPr id="10" name="Shape 7"/>
          <p:cNvSpPr/>
          <p:nvPr/>
        </p:nvSpPr>
        <p:spPr>
          <a:xfrm>
            <a:off x="8412480" y="1170432"/>
            <a:ext cx="3273552" cy="749808"/>
          </a:xfrm>
          <a:prstGeom prst="rect">
            <a:avLst/>
          </a:prstGeom>
          <a:solidFill>
            <a:srgbClr val="162E2C"/>
          </a:solidFill>
          <a:ln w="5080">
            <a:solidFill>
              <a:srgbClr val="47908C"/>
            </a:solidFill>
            <a:prstDash val="solid"/>
          </a:ln>
        </p:spPr>
      </p:sp>
      <p:sp>
        <p:nvSpPr>
          <p:cNvPr id="11" name="Text 8"/>
          <p:cNvSpPr txBox="1"/>
          <p:nvPr/>
        </p:nvSpPr>
        <p:spPr>
          <a:xfrm>
            <a:off x="8577072" y="1261872"/>
            <a:ext cx="457200" cy="365760"/>
          </a:xfrm>
          <a:prstGeom prst="rect">
            <a:avLst/>
          </a:prstGeom>
          <a:noFill/>
          <a:ln/>
        </p:spPr>
        <p:txBody>
          <a:bodyPr wrap="square" lIns="0" tIns="0" rIns="0" bIns="0" rtlCol="0" anchor="ctr"/>
          <a:lstStyle/>
          <a:p>
            <a:pPr marL="0" indent="0">
              <a:buNone/>
            </a:pPr>
            <a:r>
              <a:rPr lang="en-US" sz="1400" b="1" dirty="0">
                <a:solidFill>
                  <a:srgbClr val="2F8F8B"/>
                </a:solidFill>
                <a:latin typeface="Calibri" pitchFamily="34" charset="0"/>
                <a:ea typeface="Calibri" pitchFamily="34" charset="-122"/>
                <a:cs typeface="Calibri" pitchFamily="34" charset="-120"/>
              </a:rPr>
              <a:t>01</a:t>
            </a:r>
            <a:endParaRPr lang="en-US" sz="1400" dirty="0"/>
          </a:p>
        </p:txBody>
      </p:sp>
      <p:sp>
        <p:nvSpPr>
          <p:cNvPr id="12" name="Text 9"/>
          <p:cNvSpPr txBox="1"/>
          <p:nvPr/>
        </p:nvSpPr>
        <p:spPr>
          <a:xfrm>
            <a:off x="9070848" y="1243584"/>
            <a:ext cx="2468880" cy="594360"/>
          </a:xfrm>
          <a:prstGeom prst="rect">
            <a:avLst/>
          </a:prstGeom>
          <a:noFill/>
          <a:ln/>
        </p:spPr>
        <p:txBody>
          <a:bodyPr wrap="square" lIns="0" tIns="0" rIns="0" bIns="0" rtlCol="0" anchor="ctr"/>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Pipeline Architecture &amp; Flow</a:t>
            </a:r>
            <a:endParaRPr lang="en-US" sz="1250" dirty="0"/>
          </a:p>
        </p:txBody>
      </p:sp>
      <p:sp>
        <p:nvSpPr>
          <p:cNvPr id="13" name="Shape 10"/>
          <p:cNvSpPr/>
          <p:nvPr/>
        </p:nvSpPr>
        <p:spPr>
          <a:xfrm>
            <a:off x="8412480" y="2039112"/>
            <a:ext cx="3273552" cy="749808"/>
          </a:xfrm>
          <a:prstGeom prst="rect">
            <a:avLst/>
          </a:prstGeom>
          <a:solidFill>
            <a:srgbClr val="162E2C"/>
          </a:solidFill>
          <a:ln w="5080">
            <a:solidFill>
              <a:srgbClr val="47908C"/>
            </a:solidFill>
            <a:prstDash val="solid"/>
          </a:ln>
        </p:spPr>
      </p:sp>
      <p:sp>
        <p:nvSpPr>
          <p:cNvPr id="14" name="Text 11"/>
          <p:cNvSpPr txBox="1"/>
          <p:nvPr/>
        </p:nvSpPr>
        <p:spPr>
          <a:xfrm>
            <a:off x="8577072" y="2130552"/>
            <a:ext cx="457200" cy="365760"/>
          </a:xfrm>
          <a:prstGeom prst="rect">
            <a:avLst/>
          </a:prstGeom>
          <a:noFill/>
          <a:ln/>
        </p:spPr>
        <p:txBody>
          <a:bodyPr wrap="square" lIns="0" tIns="0" rIns="0" bIns="0" rtlCol="0" anchor="ctr"/>
          <a:lstStyle/>
          <a:p>
            <a:pPr marL="0" indent="0">
              <a:buNone/>
            </a:pPr>
            <a:r>
              <a:rPr lang="en-US" sz="1400" b="1" dirty="0">
                <a:solidFill>
                  <a:srgbClr val="2F8F8B"/>
                </a:solidFill>
                <a:latin typeface="Calibri" pitchFamily="34" charset="0"/>
                <a:ea typeface="Calibri" pitchFamily="34" charset="-122"/>
                <a:cs typeface="Calibri" pitchFamily="34" charset="-120"/>
              </a:rPr>
              <a:t>02</a:t>
            </a:r>
            <a:endParaRPr lang="en-US" sz="1400" dirty="0"/>
          </a:p>
        </p:txBody>
      </p:sp>
      <p:sp>
        <p:nvSpPr>
          <p:cNvPr id="15" name="Text 12"/>
          <p:cNvSpPr txBox="1"/>
          <p:nvPr/>
        </p:nvSpPr>
        <p:spPr>
          <a:xfrm>
            <a:off x="9070848" y="2112264"/>
            <a:ext cx="2468880" cy="594360"/>
          </a:xfrm>
          <a:prstGeom prst="rect">
            <a:avLst/>
          </a:prstGeom>
          <a:noFill/>
          <a:ln/>
        </p:spPr>
        <p:txBody>
          <a:bodyPr wrap="square" lIns="0" tIns="0" rIns="0" bIns="0" rtlCol="0" anchor="ctr"/>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Data Validation &amp; Quality</a:t>
            </a:r>
            <a:endParaRPr lang="en-US" sz="1250" dirty="0"/>
          </a:p>
        </p:txBody>
      </p:sp>
      <p:sp>
        <p:nvSpPr>
          <p:cNvPr id="16" name="Shape 13"/>
          <p:cNvSpPr/>
          <p:nvPr/>
        </p:nvSpPr>
        <p:spPr>
          <a:xfrm>
            <a:off x="8412480" y="2907792"/>
            <a:ext cx="3273552" cy="749808"/>
          </a:xfrm>
          <a:prstGeom prst="rect">
            <a:avLst/>
          </a:prstGeom>
          <a:solidFill>
            <a:srgbClr val="162E2C"/>
          </a:solidFill>
          <a:ln w="5080">
            <a:solidFill>
              <a:srgbClr val="47908C"/>
            </a:solidFill>
            <a:prstDash val="solid"/>
          </a:ln>
        </p:spPr>
      </p:sp>
      <p:sp>
        <p:nvSpPr>
          <p:cNvPr id="17" name="Text 14"/>
          <p:cNvSpPr txBox="1"/>
          <p:nvPr/>
        </p:nvSpPr>
        <p:spPr>
          <a:xfrm>
            <a:off x="8577072" y="2999232"/>
            <a:ext cx="457200" cy="365760"/>
          </a:xfrm>
          <a:prstGeom prst="rect">
            <a:avLst/>
          </a:prstGeom>
          <a:noFill/>
          <a:ln/>
        </p:spPr>
        <p:txBody>
          <a:bodyPr wrap="square" lIns="0" tIns="0" rIns="0" bIns="0" rtlCol="0" anchor="ctr"/>
          <a:lstStyle/>
          <a:p>
            <a:pPr marL="0" indent="0">
              <a:buNone/>
            </a:pPr>
            <a:r>
              <a:rPr lang="en-US" sz="1400" b="1" dirty="0">
                <a:solidFill>
                  <a:srgbClr val="2F8F8B"/>
                </a:solidFill>
                <a:latin typeface="Calibri" pitchFamily="34" charset="0"/>
                <a:ea typeface="Calibri" pitchFamily="34" charset="-122"/>
                <a:cs typeface="Calibri" pitchFamily="34" charset="-120"/>
              </a:rPr>
              <a:t>03</a:t>
            </a:r>
            <a:endParaRPr lang="en-US" sz="1400" dirty="0"/>
          </a:p>
        </p:txBody>
      </p:sp>
      <p:sp>
        <p:nvSpPr>
          <p:cNvPr id="18" name="Text 15"/>
          <p:cNvSpPr txBox="1"/>
          <p:nvPr/>
        </p:nvSpPr>
        <p:spPr>
          <a:xfrm>
            <a:off x="9070848" y="2980944"/>
            <a:ext cx="2468880" cy="594360"/>
          </a:xfrm>
          <a:prstGeom prst="rect">
            <a:avLst/>
          </a:prstGeom>
          <a:noFill/>
          <a:ln/>
        </p:spPr>
        <p:txBody>
          <a:bodyPr wrap="square" lIns="0" tIns="0" rIns="0" bIns="0" rtlCol="0" anchor="ctr"/>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Duplicate Prevention</a:t>
            </a:r>
            <a:endParaRPr lang="en-US" sz="1250" dirty="0"/>
          </a:p>
        </p:txBody>
      </p:sp>
      <p:sp>
        <p:nvSpPr>
          <p:cNvPr id="19" name="Shape 16"/>
          <p:cNvSpPr/>
          <p:nvPr/>
        </p:nvSpPr>
        <p:spPr>
          <a:xfrm>
            <a:off x="8412480" y="3776472"/>
            <a:ext cx="3273552" cy="749808"/>
          </a:xfrm>
          <a:prstGeom prst="rect">
            <a:avLst/>
          </a:prstGeom>
          <a:solidFill>
            <a:srgbClr val="162E2C"/>
          </a:solidFill>
          <a:ln w="5080">
            <a:solidFill>
              <a:srgbClr val="47908C"/>
            </a:solidFill>
            <a:prstDash val="solid"/>
          </a:ln>
        </p:spPr>
      </p:sp>
      <p:sp>
        <p:nvSpPr>
          <p:cNvPr id="20" name="Text 17"/>
          <p:cNvSpPr txBox="1"/>
          <p:nvPr/>
        </p:nvSpPr>
        <p:spPr>
          <a:xfrm>
            <a:off x="8577072" y="3867912"/>
            <a:ext cx="457200" cy="365760"/>
          </a:xfrm>
          <a:prstGeom prst="rect">
            <a:avLst/>
          </a:prstGeom>
          <a:noFill/>
          <a:ln/>
        </p:spPr>
        <p:txBody>
          <a:bodyPr wrap="square" lIns="0" tIns="0" rIns="0" bIns="0" rtlCol="0" anchor="ctr"/>
          <a:lstStyle/>
          <a:p>
            <a:pPr marL="0" indent="0">
              <a:buNone/>
            </a:pPr>
            <a:r>
              <a:rPr lang="en-US" sz="1400" b="1" dirty="0">
                <a:solidFill>
                  <a:srgbClr val="2F8F8B"/>
                </a:solidFill>
                <a:latin typeface="Calibri" pitchFamily="34" charset="0"/>
                <a:ea typeface="Calibri" pitchFamily="34" charset="-122"/>
                <a:cs typeface="Calibri" pitchFamily="34" charset="-120"/>
              </a:rPr>
              <a:t>04</a:t>
            </a:r>
            <a:endParaRPr lang="en-US" sz="1400" dirty="0"/>
          </a:p>
        </p:txBody>
      </p:sp>
      <p:sp>
        <p:nvSpPr>
          <p:cNvPr id="21" name="Text 18"/>
          <p:cNvSpPr txBox="1"/>
          <p:nvPr/>
        </p:nvSpPr>
        <p:spPr>
          <a:xfrm>
            <a:off x="9070848" y="3849624"/>
            <a:ext cx="2468880" cy="594360"/>
          </a:xfrm>
          <a:prstGeom prst="rect">
            <a:avLst/>
          </a:prstGeom>
          <a:noFill/>
          <a:ln/>
        </p:spPr>
        <p:txBody>
          <a:bodyPr wrap="square" lIns="0" tIns="0" rIns="0" bIns="0" rtlCol="0" anchor="ctr"/>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Power BI Finance Dashboards</a:t>
            </a:r>
            <a:endParaRPr lang="en-US" sz="1250" dirty="0"/>
          </a:p>
        </p:txBody>
      </p:sp>
      <p:sp>
        <p:nvSpPr>
          <p:cNvPr id="22" name="Shape 19"/>
          <p:cNvSpPr/>
          <p:nvPr/>
        </p:nvSpPr>
        <p:spPr>
          <a:xfrm>
            <a:off x="8412480" y="4645152"/>
            <a:ext cx="3273552" cy="749808"/>
          </a:xfrm>
          <a:prstGeom prst="rect">
            <a:avLst/>
          </a:prstGeom>
          <a:solidFill>
            <a:srgbClr val="162E2C"/>
          </a:solidFill>
          <a:ln w="5080">
            <a:solidFill>
              <a:srgbClr val="47908C"/>
            </a:solidFill>
            <a:prstDash val="solid"/>
          </a:ln>
        </p:spPr>
      </p:sp>
      <p:sp>
        <p:nvSpPr>
          <p:cNvPr id="23" name="Text 20"/>
          <p:cNvSpPr txBox="1"/>
          <p:nvPr/>
        </p:nvSpPr>
        <p:spPr>
          <a:xfrm>
            <a:off x="8577072" y="4736592"/>
            <a:ext cx="457200" cy="365760"/>
          </a:xfrm>
          <a:prstGeom prst="rect">
            <a:avLst/>
          </a:prstGeom>
          <a:noFill/>
          <a:ln/>
        </p:spPr>
        <p:txBody>
          <a:bodyPr wrap="square" lIns="0" tIns="0" rIns="0" bIns="0" rtlCol="0" anchor="ctr"/>
          <a:lstStyle/>
          <a:p>
            <a:pPr marL="0" indent="0">
              <a:buNone/>
            </a:pPr>
            <a:r>
              <a:rPr lang="en-US" sz="1400" b="1" dirty="0">
                <a:solidFill>
                  <a:srgbClr val="2F8F8B"/>
                </a:solidFill>
                <a:latin typeface="Calibri" pitchFamily="34" charset="0"/>
                <a:ea typeface="Calibri" pitchFamily="34" charset="-122"/>
                <a:cs typeface="Calibri" pitchFamily="34" charset="-120"/>
              </a:rPr>
              <a:t>05</a:t>
            </a:r>
            <a:endParaRPr lang="en-US" sz="1400" dirty="0"/>
          </a:p>
        </p:txBody>
      </p:sp>
      <p:sp>
        <p:nvSpPr>
          <p:cNvPr id="24" name="Text 21"/>
          <p:cNvSpPr txBox="1"/>
          <p:nvPr/>
        </p:nvSpPr>
        <p:spPr>
          <a:xfrm>
            <a:off x="9070848" y="4718304"/>
            <a:ext cx="2468880" cy="594360"/>
          </a:xfrm>
          <a:prstGeom prst="rect">
            <a:avLst/>
          </a:prstGeom>
          <a:noFill/>
          <a:ln/>
        </p:spPr>
        <p:txBody>
          <a:bodyPr wrap="square" lIns="0" tIns="0" rIns="0" bIns="0" rtlCol="0" anchor="ctr"/>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Pipeline Health Monitoring</a:t>
            </a:r>
            <a:endParaRPr lang="en-US" sz="1250" dirty="0"/>
          </a:p>
        </p:txBody>
      </p:sp>
      <p:sp>
        <p:nvSpPr>
          <p:cNvPr id="25" name="Shape 22"/>
          <p:cNvSpPr/>
          <p:nvPr/>
        </p:nvSpPr>
        <p:spPr>
          <a:xfrm>
            <a:off x="502920" y="5687568"/>
            <a:ext cx="11185855" cy="14630"/>
          </a:xfrm>
          <a:prstGeom prst="rect">
            <a:avLst/>
          </a:prstGeom>
          <a:solidFill>
            <a:srgbClr val="47908C"/>
          </a:solidFill>
          <a:ln/>
        </p:spPr>
      </p:sp>
      <p:sp>
        <p:nvSpPr>
          <p:cNvPr id="26" name="Text 23"/>
          <p:cNvSpPr txBox="1"/>
          <p:nvPr/>
        </p:nvSpPr>
        <p:spPr>
          <a:xfrm>
            <a:off x="502920" y="5833872"/>
            <a:ext cx="6400800" cy="256032"/>
          </a:xfrm>
          <a:prstGeom prst="rect">
            <a:avLst/>
          </a:prstGeom>
          <a:noFill/>
          <a:ln/>
        </p:spPr>
        <p:txBody>
          <a:bodyPr wrap="square" lIns="0" tIns="0" rIns="0" bIns="0" rtlCol="0" anchor="ctr"/>
          <a:lstStyle/>
          <a:p>
            <a:pPr marL="0" indent="0">
              <a:buNone/>
            </a:pPr>
            <a:r>
              <a:rPr lang="en-US" sz="1100" dirty="0">
                <a:solidFill>
                  <a:srgbClr val="A2C5C3"/>
                </a:solidFill>
                <a:latin typeface="Calibri" pitchFamily="34" charset="0"/>
                <a:ea typeface="Calibri" pitchFamily="34" charset="-122"/>
                <a:cs typeface="Calibri" pitchFamily="34" charset="-120"/>
              </a:rPr>
              <a:t>Python  ·  PostgreSQL  ·  SQL  ·  Windows Task Scheduler  ·  Power BI</a:t>
            </a:r>
            <a:endParaRPr lang="en-US" sz="1100" dirty="0"/>
          </a:p>
        </p:txBody>
      </p:sp>
      <p:sp>
        <p:nvSpPr>
          <p:cNvPr id="27" name="Text 24"/>
          <p:cNvSpPr txBox="1"/>
          <p:nvPr/>
        </p:nvSpPr>
        <p:spPr>
          <a:xfrm>
            <a:off x="502920" y="6144768"/>
            <a:ext cx="64008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Edward Jon Arquiza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THE PROBLEM</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700" b="1" dirty="0">
                <a:solidFill>
                  <a:srgbClr val="1D3A38"/>
                </a:solidFill>
                <a:latin typeface="Calibri" pitchFamily="34" charset="0"/>
                <a:ea typeface="Calibri" pitchFamily="34" charset="-122"/>
                <a:cs typeface="Calibri" pitchFamily="34" charset="-120"/>
              </a:rPr>
              <a:t>Finance data sitting in CSV files doesn't become insight by itself.</a:t>
            </a:r>
            <a:endParaRPr lang="en-US" sz="2700" dirty="0"/>
          </a:p>
        </p:txBody>
      </p:sp>
      <p:sp>
        <p:nvSpPr>
          <p:cNvPr id="5" name="Shape 3"/>
          <p:cNvSpPr/>
          <p:nvPr/>
        </p:nvSpPr>
        <p:spPr>
          <a:xfrm>
            <a:off x="502920" y="1709928"/>
            <a:ext cx="11185855" cy="14630"/>
          </a:xfrm>
          <a:prstGeom prst="rect">
            <a:avLst/>
          </a:prstGeom>
          <a:solidFill>
            <a:srgbClr val="D5E3E2"/>
          </a:solidFill>
          <a:ln/>
        </p:spPr>
      </p:sp>
      <p:sp>
        <p:nvSpPr>
          <p:cNvPr id="6" name="Shape 4"/>
          <p:cNvSpPr/>
          <p:nvPr/>
        </p:nvSpPr>
        <p:spPr>
          <a:xfrm>
            <a:off x="502920" y="1920240"/>
            <a:ext cx="3547872" cy="2148840"/>
          </a:xfrm>
          <a:prstGeom prst="rect">
            <a:avLst/>
          </a:prstGeom>
          <a:solidFill>
            <a:srgbClr val="FFFFFF"/>
          </a:solidFill>
          <a:ln w="6350">
            <a:solidFill>
              <a:srgbClr val="D5E3E2"/>
            </a:solidFill>
            <a:prstDash val="solid"/>
          </a:ln>
        </p:spPr>
      </p:sp>
      <p:sp>
        <p:nvSpPr>
          <p:cNvPr id="7" name="Shape 5"/>
          <p:cNvSpPr/>
          <p:nvPr/>
        </p:nvSpPr>
        <p:spPr>
          <a:xfrm>
            <a:off x="502920" y="1920240"/>
            <a:ext cx="3547872" cy="41148"/>
          </a:xfrm>
          <a:prstGeom prst="rect">
            <a:avLst/>
          </a:prstGeom>
          <a:solidFill>
            <a:srgbClr val="2F8F8B"/>
          </a:solidFill>
          <a:ln/>
        </p:spPr>
      </p:sp>
      <p:sp>
        <p:nvSpPr>
          <p:cNvPr id="8" name="Text 6"/>
          <p:cNvSpPr txBox="1"/>
          <p:nvPr/>
        </p:nvSpPr>
        <p:spPr>
          <a:xfrm>
            <a:off x="731520" y="2103120"/>
            <a:ext cx="3108960" cy="347472"/>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Manual effort</a:t>
            </a:r>
            <a:endParaRPr lang="en-US" sz="1500" dirty="0"/>
          </a:p>
        </p:txBody>
      </p:sp>
      <p:sp>
        <p:nvSpPr>
          <p:cNvPr id="9" name="Text 7"/>
          <p:cNvSpPr txBox="1"/>
          <p:nvPr/>
        </p:nvSpPr>
        <p:spPr>
          <a:xfrm>
            <a:off x="731520" y="2514600"/>
            <a:ext cx="3108960" cy="1417320"/>
          </a:xfrm>
          <a:prstGeom prst="rect">
            <a:avLst/>
          </a:prstGeom>
          <a:noFill/>
          <a:ln/>
        </p:spPr>
        <p:txBody>
          <a:bodyPr wrap="square" lIns="0" tIns="0" rIns="0" bIns="0" rtlCol="0" anchor="ctr"/>
          <a:lstStyle/>
          <a:p>
            <a:pPr marL="0" indent="0">
              <a:lnSpc>
                <a:spcPct val="115000"/>
              </a:lnSpc>
              <a:buNone/>
            </a:pPr>
            <a:r>
              <a:rPr lang="en-US" sz="1250" dirty="0">
                <a:solidFill>
                  <a:srgbClr val="2B3D3C"/>
                </a:solidFill>
                <a:latin typeface="Calibri" pitchFamily="34" charset="0"/>
                <a:ea typeface="Calibri" pitchFamily="34" charset="-122"/>
                <a:cs typeface="Calibri" pitchFamily="34" charset="-120"/>
              </a:rPr>
              <a:t>Finance teams download, rename, and import CSV files by hand — an error-prone and time-consuming process.</a:t>
            </a:r>
            <a:endParaRPr lang="en-US" sz="1250" dirty="0"/>
          </a:p>
        </p:txBody>
      </p:sp>
      <p:sp>
        <p:nvSpPr>
          <p:cNvPr id="10" name="Shape 8"/>
          <p:cNvSpPr/>
          <p:nvPr/>
        </p:nvSpPr>
        <p:spPr>
          <a:xfrm>
            <a:off x="4233672" y="1920240"/>
            <a:ext cx="3547872" cy="2148840"/>
          </a:xfrm>
          <a:prstGeom prst="rect">
            <a:avLst/>
          </a:prstGeom>
          <a:solidFill>
            <a:srgbClr val="FFFFFF"/>
          </a:solidFill>
          <a:ln w="6350">
            <a:solidFill>
              <a:srgbClr val="D5E3E2"/>
            </a:solidFill>
            <a:prstDash val="solid"/>
          </a:ln>
        </p:spPr>
      </p:sp>
      <p:sp>
        <p:nvSpPr>
          <p:cNvPr id="11" name="Shape 9"/>
          <p:cNvSpPr/>
          <p:nvPr/>
        </p:nvSpPr>
        <p:spPr>
          <a:xfrm>
            <a:off x="4233672" y="1920240"/>
            <a:ext cx="3547872" cy="41148"/>
          </a:xfrm>
          <a:prstGeom prst="rect">
            <a:avLst/>
          </a:prstGeom>
          <a:solidFill>
            <a:srgbClr val="2F8F8B"/>
          </a:solidFill>
          <a:ln/>
        </p:spPr>
      </p:sp>
      <p:sp>
        <p:nvSpPr>
          <p:cNvPr id="12" name="Text 10"/>
          <p:cNvSpPr txBox="1"/>
          <p:nvPr/>
        </p:nvSpPr>
        <p:spPr>
          <a:xfrm>
            <a:off x="4462272" y="2103120"/>
            <a:ext cx="3108960" cy="347472"/>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No audit trail</a:t>
            </a:r>
            <a:endParaRPr lang="en-US" sz="1500" dirty="0"/>
          </a:p>
        </p:txBody>
      </p:sp>
      <p:sp>
        <p:nvSpPr>
          <p:cNvPr id="13" name="Text 11"/>
          <p:cNvSpPr txBox="1"/>
          <p:nvPr/>
        </p:nvSpPr>
        <p:spPr>
          <a:xfrm>
            <a:off x="4462272" y="2514600"/>
            <a:ext cx="3108960" cy="1417320"/>
          </a:xfrm>
          <a:prstGeom prst="rect">
            <a:avLst/>
          </a:prstGeom>
          <a:noFill/>
          <a:ln/>
        </p:spPr>
        <p:txBody>
          <a:bodyPr wrap="square" lIns="0" tIns="0" rIns="0" bIns="0" rtlCol="0" anchor="ctr"/>
          <a:lstStyle/>
          <a:p>
            <a:pPr marL="0" indent="0">
              <a:lnSpc>
                <a:spcPct val="115000"/>
              </a:lnSpc>
              <a:buNone/>
            </a:pPr>
            <a:r>
              <a:rPr lang="en-US" sz="1250" dirty="0">
                <a:solidFill>
                  <a:srgbClr val="2B3D3C"/>
                </a:solidFill>
                <a:latin typeface="Calibri" pitchFamily="34" charset="0"/>
                <a:ea typeface="Calibri" pitchFamily="34" charset="-122"/>
                <a:cs typeface="Calibri" pitchFamily="34" charset="-120"/>
              </a:rPr>
              <a:t>When a file gets loaded twice, or fails silently, there is no record of what happened or why.</a:t>
            </a:r>
            <a:endParaRPr lang="en-US" sz="1250" dirty="0"/>
          </a:p>
        </p:txBody>
      </p:sp>
      <p:sp>
        <p:nvSpPr>
          <p:cNvPr id="14" name="Shape 12"/>
          <p:cNvSpPr/>
          <p:nvPr/>
        </p:nvSpPr>
        <p:spPr>
          <a:xfrm>
            <a:off x="7964424" y="1920240"/>
            <a:ext cx="3547872" cy="2148840"/>
          </a:xfrm>
          <a:prstGeom prst="rect">
            <a:avLst/>
          </a:prstGeom>
          <a:solidFill>
            <a:srgbClr val="FFFFFF"/>
          </a:solidFill>
          <a:ln w="6350">
            <a:solidFill>
              <a:srgbClr val="D5E3E2"/>
            </a:solidFill>
            <a:prstDash val="solid"/>
          </a:ln>
        </p:spPr>
      </p:sp>
      <p:sp>
        <p:nvSpPr>
          <p:cNvPr id="15" name="Shape 13"/>
          <p:cNvSpPr/>
          <p:nvPr/>
        </p:nvSpPr>
        <p:spPr>
          <a:xfrm>
            <a:off x="7964424" y="1920240"/>
            <a:ext cx="3547872" cy="41148"/>
          </a:xfrm>
          <a:prstGeom prst="rect">
            <a:avLst/>
          </a:prstGeom>
          <a:solidFill>
            <a:srgbClr val="2F8F8B"/>
          </a:solidFill>
          <a:ln/>
        </p:spPr>
      </p:sp>
      <p:sp>
        <p:nvSpPr>
          <p:cNvPr id="16" name="Text 14"/>
          <p:cNvSpPr txBox="1"/>
          <p:nvPr/>
        </p:nvSpPr>
        <p:spPr>
          <a:xfrm>
            <a:off x="8193024" y="2103120"/>
            <a:ext cx="3108960" cy="347472"/>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Reactive reporting</a:t>
            </a:r>
            <a:endParaRPr lang="en-US" sz="1500" dirty="0"/>
          </a:p>
        </p:txBody>
      </p:sp>
      <p:sp>
        <p:nvSpPr>
          <p:cNvPr id="17" name="Text 15"/>
          <p:cNvSpPr txBox="1"/>
          <p:nvPr/>
        </p:nvSpPr>
        <p:spPr>
          <a:xfrm>
            <a:off x="8193024" y="2514600"/>
            <a:ext cx="3108960" cy="1417320"/>
          </a:xfrm>
          <a:prstGeom prst="rect">
            <a:avLst/>
          </a:prstGeom>
          <a:noFill/>
          <a:ln/>
        </p:spPr>
        <p:txBody>
          <a:bodyPr wrap="square" lIns="0" tIns="0" rIns="0" bIns="0" rtlCol="0" anchor="ctr"/>
          <a:lstStyle/>
          <a:p>
            <a:pPr marL="0" indent="0">
              <a:lnSpc>
                <a:spcPct val="115000"/>
              </a:lnSpc>
              <a:buNone/>
            </a:pPr>
            <a:r>
              <a:rPr lang="en-US" sz="1250" dirty="0">
                <a:solidFill>
                  <a:srgbClr val="2B3D3C"/>
                </a:solidFill>
                <a:latin typeface="Calibri" pitchFamily="34" charset="0"/>
                <a:ea typeface="Calibri" pitchFamily="34" charset="-122"/>
                <a:cs typeface="Calibri" pitchFamily="34" charset="-120"/>
              </a:rPr>
              <a:t>Reports are built after data arrives, not triggered by it — meaning decisions are always slightly behind.</a:t>
            </a:r>
            <a:endParaRPr lang="en-US" sz="1250" dirty="0"/>
          </a:p>
        </p:txBody>
      </p:sp>
      <p:sp>
        <p:nvSpPr>
          <p:cNvPr id="18" name="Shape 16"/>
          <p:cNvSpPr/>
          <p:nvPr/>
        </p:nvSpPr>
        <p:spPr>
          <a:xfrm>
            <a:off x="502920" y="4251960"/>
            <a:ext cx="11185855" cy="14630"/>
          </a:xfrm>
          <a:prstGeom prst="rect">
            <a:avLst/>
          </a:prstGeom>
          <a:solidFill>
            <a:srgbClr val="D5E3E2"/>
          </a:solidFill>
          <a:ln/>
        </p:spPr>
      </p:sp>
      <p:sp>
        <p:nvSpPr>
          <p:cNvPr id="19" name="Text 17"/>
          <p:cNvSpPr txBox="1"/>
          <p:nvPr/>
        </p:nvSpPr>
        <p:spPr>
          <a:xfrm>
            <a:off x="502920" y="4434840"/>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THE SOLUTION</a:t>
            </a:r>
            <a:endParaRPr lang="en-US" sz="950" dirty="0"/>
          </a:p>
        </p:txBody>
      </p:sp>
      <p:sp>
        <p:nvSpPr>
          <p:cNvPr id="20" name="Text 18"/>
          <p:cNvSpPr txBox="1"/>
          <p:nvPr/>
        </p:nvSpPr>
        <p:spPr>
          <a:xfrm>
            <a:off x="502920" y="4736592"/>
            <a:ext cx="11185855" cy="594360"/>
          </a:xfrm>
          <a:prstGeom prst="rect">
            <a:avLst/>
          </a:prstGeom>
          <a:noFill/>
          <a:ln/>
        </p:spPr>
        <p:txBody>
          <a:bodyPr wrap="square" lIns="0" tIns="0" rIns="0" bIns="0" rtlCol="0" anchor="ctr"/>
          <a:lstStyle/>
          <a:p>
            <a:pPr marL="0" indent="0">
              <a:lnSpc>
                <a:spcPct val="115000"/>
              </a:lnSpc>
              <a:buNone/>
            </a:pPr>
            <a:r>
              <a:rPr lang="en-US" sz="1500" dirty="0">
                <a:solidFill>
                  <a:srgbClr val="1D3A38"/>
                </a:solidFill>
                <a:latin typeface="Calibri" pitchFamily="34" charset="0"/>
                <a:ea typeface="Calibri" pitchFamily="34" charset="-122"/>
                <a:cs typeface="Calibri" pitchFamily="34" charset="-120"/>
              </a:rPr>
              <a:t>An automated pipeline that detects, validates, deduplicates, and loads CSV files every 15 minutes — with a full audit trail and Power BI reporting layer.</a:t>
            </a:r>
            <a:endParaRPr lang="en-US" sz="1500" dirty="0"/>
          </a:p>
        </p:txBody>
      </p:sp>
      <p:sp>
        <p:nvSpPr>
          <p:cNvPr id="21" name="Shape 19"/>
          <p:cNvSpPr/>
          <p:nvPr/>
        </p:nvSpPr>
        <p:spPr>
          <a:xfrm>
            <a:off x="502920" y="5458968"/>
            <a:ext cx="3456432" cy="365760"/>
          </a:xfrm>
          <a:prstGeom prst="rect">
            <a:avLst/>
          </a:prstGeom>
          <a:solidFill>
            <a:srgbClr val="1D3A38"/>
          </a:solidFill>
          <a:ln/>
        </p:spPr>
      </p:sp>
      <p:sp>
        <p:nvSpPr>
          <p:cNvPr id="22" name="Text 20"/>
          <p:cNvSpPr txBox="1"/>
          <p:nvPr/>
        </p:nvSpPr>
        <p:spPr>
          <a:xfrm>
            <a:off x="685800" y="5458968"/>
            <a:ext cx="3182112"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Python ETL Pipeline</a:t>
            </a:r>
            <a:endParaRPr lang="en-US" sz="1150" dirty="0"/>
          </a:p>
        </p:txBody>
      </p:sp>
      <p:sp>
        <p:nvSpPr>
          <p:cNvPr id="23" name="Shape 21"/>
          <p:cNvSpPr/>
          <p:nvPr/>
        </p:nvSpPr>
        <p:spPr>
          <a:xfrm>
            <a:off x="4233672" y="5458968"/>
            <a:ext cx="3456432" cy="365760"/>
          </a:xfrm>
          <a:prstGeom prst="rect">
            <a:avLst/>
          </a:prstGeom>
          <a:solidFill>
            <a:srgbClr val="1D3A38"/>
          </a:solidFill>
          <a:ln/>
        </p:spPr>
      </p:sp>
      <p:sp>
        <p:nvSpPr>
          <p:cNvPr id="24" name="Text 22"/>
          <p:cNvSpPr txBox="1"/>
          <p:nvPr/>
        </p:nvSpPr>
        <p:spPr>
          <a:xfrm>
            <a:off x="4416552" y="5458968"/>
            <a:ext cx="3182112"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PostgreSQL Storage</a:t>
            </a:r>
            <a:endParaRPr lang="en-US" sz="1150" dirty="0"/>
          </a:p>
        </p:txBody>
      </p:sp>
      <p:sp>
        <p:nvSpPr>
          <p:cNvPr id="25" name="Shape 23"/>
          <p:cNvSpPr/>
          <p:nvPr/>
        </p:nvSpPr>
        <p:spPr>
          <a:xfrm>
            <a:off x="7964424" y="5458968"/>
            <a:ext cx="3456432" cy="365760"/>
          </a:xfrm>
          <a:prstGeom prst="rect">
            <a:avLst/>
          </a:prstGeom>
          <a:solidFill>
            <a:srgbClr val="1D3A38"/>
          </a:solidFill>
          <a:ln/>
        </p:spPr>
      </p:sp>
      <p:sp>
        <p:nvSpPr>
          <p:cNvPr id="26" name="Text 24"/>
          <p:cNvSpPr txBox="1"/>
          <p:nvPr/>
        </p:nvSpPr>
        <p:spPr>
          <a:xfrm>
            <a:off x="8147304" y="5458968"/>
            <a:ext cx="3182112"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SHA-256 Deduplication</a:t>
            </a:r>
            <a:endParaRPr lang="en-US" sz="1150" dirty="0"/>
          </a:p>
        </p:txBody>
      </p:sp>
      <p:sp>
        <p:nvSpPr>
          <p:cNvPr id="27" name="Shape 25"/>
          <p:cNvSpPr/>
          <p:nvPr/>
        </p:nvSpPr>
        <p:spPr>
          <a:xfrm>
            <a:off x="502920" y="5934456"/>
            <a:ext cx="3456432" cy="365760"/>
          </a:xfrm>
          <a:prstGeom prst="rect">
            <a:avLst/>
          </a:prstGeom>
          <a:solidFill>
            <a:srgbClr val="1D3A38"/>
          </a:solidFill>
          <a:ln/>
        </p:spPr>
      </p:sp>
      <p:sp>
        <p:nvSpPr>
          <p:cNvPr id="28" name="Text 26"/>
          <p:cNvSpPr txBox="1"/>
          <p:nvPr/>
        </p:nvSpPr>
        <p:spPr>
          <a:xfrm>
            <a:off x="685800" y="5934456"/>
            <a:ext cx="3182112"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Windows Task Scheduler</a:t>
            </a:r>
            <a:endParaRPr lang="en-US" sz="1150" dirty="0"/>
          </a:p>
        </p:txBody>
      </p:sp>
      <p:sp>
        <p:nvSpPr>
          <p:cNvPr id="29" name="Shape 27"/>
          <p:cNvSpPr/>
          <p:nvPr/>
        </p:nvSpPr>
        <p:spPr>
          <a:xfrm>
            <a:off x="4233672" y="5934456"/>
            <a:ext cx="3456432" cy="365760"/>
          </a:xfrm>
          <a:prstGeom prst="rect">
            <a:avLst/>
          </a:prstGeom>
          <a:solidFill>
            <a:srgbClr val="1D3A38"/>
          </a:solidFill>
          <a:ln/>
        </p:spPr>
      </p:sp>
      <p:sp>
        <p:nvSpPr>
          <p:cNvPr id="30" name="Text 28"/>
          <p:cNvSpPr txBox="1"/>
          <p:nvPr/>
        </p:nvSpPr>
        <p:spPr>
          <a:xfrm>
            <a:off x="4416552" y="5934456"/>
            <a:ext cx="3182112"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SQL Reporting Views</a:t>
            </a:r>
            <a:endParaRPr lang="en-US" sz="1150" dirty="0"/>
          </a:p>
        </p:txBody>
      </p:sp>
      <p:sp>
        <p:nvSpPr>
          <p:cNvPr id="31" name="Shape 29"/>
          <p:cNvSpPr/>
          <p:nvPr/>
        </p:nvSpPr>
        <p:spPr>
          <a:xfrm>
            <a:off x="7964424" y="5934456"/>
            <a:ext cx="3456432" cy="365760"/>
          </a:xfrm>
          <a:prstGeom prst="rect">
            <a:avLst/>
          </a:prstGeom>
          <a:solidFill>
            <a:srgbClr val="1D3A38"/>
          </a:solidFill>
          <a:ln/>
        </p:spPr>
      </p:sp>
      <p:sp>
        <p:nvSpPr>
          <p:cNvPr id="32" name="Text 30"/>
          <p:cNvSpPr txBox="1"/>
          <p:nvPr/>
        </p:nvSpPr>
        <p:spPr>
          <a:xfrm>
            <a:off x="8147304" y="5934456"/>
            <a:ext cx="3182112"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Power BI Analytics</a:t>
            </a:r>
            <a:endParaRPr lang="en-US" sz="1150" dirty="0"/>
          </a:p>
        </p:txBody>
      </p:sp>
      <p:sp>
        <p:nvSpPr>
          <p:cNvPr id="33" name="Text 31"/>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ARCHITECTURE</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800" b="1" dirty="0">
                <a:solidFill>
                  <a:srgbClr val="1D3A38"/>
                </a:solidFill>
                <a:latin typeface="Calibri" pitchFamily="34" charset="0"/>
                <a:ea typeface="Calibri" pitchFamily="34" charset="-122"/>
                <a:cs typeface="Calibri" pitchFamily="34" charset="-120"/>
              </a:rPr>
              <a:t>One clear flow: CSV files in, business insights out.</a:t>
            </a:r>
            <a:endParaRPr lang="en-US" sz="2800" dirty="0"/>
          </a:p>
        </p:txBody>
      </p:sp>
      <p:sp>
        <p:nvSpPr>
          <p:cNvPr id="5" name="Shape 3"/>
          <p:cNvSpPr/>
          <p:nvPr/>
        </p:nvSpPr>
        <p:spPr>
          <a:xfrm>
            <a:off x="502920" y="1709928"/>
            <a:ext cx="11185855" cy="14630"/>
          </a:xfrm>
          <a:prstGeom prst="rect">
            <a:avLst/>
          </a:prstGeom>
          <a:solidFill>
            <a:srgbClr val="D5E3E2"/>
          </a:solidFill>
          <a:ln/>
        </p:spPr>
      </p:sp>
      <p:sp>
        <p:nvSpPr>
          <p:cNvPr id="6" name="Shape 4"/>
          <p:cNvSpPr/>
          <p:nvPr/>
        </p:nvSpPr>
        <p:spPr>
          <a:xfrm>
            <a:off x="502920" y="1901952"/>
            <a:ext cx="1737360" cy="914400"/>
          </a:xfrm>
          <a:prstGeom prst="rect">
            <a:avLst/>
          </a:prstGeom>
          <a:solidFill>
            <a:srgbClr val="FFFFFF"/>
          </a:solidFill>
          <a:ln w="6350">
            <a:solidFill>
              <a:srgbClr val="D5E3E2"/>
            </a:solidFill>
            <a:prstDash val="solid"/>
          </a:ln>
        </p:spPr>
      </p:sp>
      <p:sp>
        <p:nvSpPr>
          <p:cNvPr id="7" name="Text 5"/>
          <p:cNvSpPr txBox="1"/>
          <p:nvPr/>
        </p:nvSpPr>
        <p:spPr>
          <a:xfrm>
            <a:off x="612648" y="2029968"/>
            <a:ext cx="1554480" cy="365760"/>
          </a:xfrm>
          <a:prstGeom prst="rect">
            <a:avLst/>
          </a:prstGeom>
          <a:noFill/>
          <a:ln/>
        </p:spPr>
        <p:txBody>
          <a:bodyPr wrap="square" lIns="0" tIns="0" rIns="0" bIns="0" rtlCol="0" anchor="ctr"/>
          <a:lstStyle/>
          <a:p>
            <a:pPr marL="0" indent="0">
              <a:buNone/>
            </a:pPr>
            <a:r>
              <a:rPr lang="en-US" sz="1350" b="1" dirty="0">
                <a:solidFill>
                  <a:srgbClr val="1D3A38"/>
                </a:solidFill>
                <a:latin typeface="Calibri" pitchFamily="34" charset="0"/>
                <a:ea typeface="Calibri" pitchFamily="34" charset="-122"/>
                <a:cs typeface="Calibri" pitchFamily="34" charset="-120"/>
              </a:rPr>
              <a:t>CSV Files</a:t>
            </a:r>
            <a:endParaRPr lang="en-US" sz="1350" dirty="0"/>
          </a:p>
        </p:txBody>
      </p:sp>
      <p:sp>
        <p:nvSpPr>
          <p:cNvPr id="8" name="Text 6"/>
          <p:cNvSpPr txBox="1"/>
          <p:nvPr/>
        </p:nvSpPr>
        <p:spPr>
          <a:xfrm>
            <a:off x="612648" y="2423160"/>
            <a:ext cx="1554480" cy="347472"/>
          </a:xfrm>
          <a:prstGeom prst="rect">
            <a:avLst/>
          </a:prstGeom>
          <a:noFill/>
          <a:ln/>
        </p:spPr>
        <p:txBody>
          <a:bodyPr wrap="square" lIns="0" tIns="0" rIns="0" bIns="0" rtlCol="0" anchor="ctr"/>
          <a:lstStyle/>
          <a:p>
            <a:pPr marL="0" indent="0">
              <a:buNone/>
            </a:pPr>
            <a:r>
              <a:rPr lang="en-US" sz="1000" dirty="0">
                <a:solidFill>
                  <a:srgbClr val="7A9290"/>
                </a:solidFill>
                <a:latin typeface="Calibri" pitchFamily="34" charset="0"/>
                <a:ea typeface="Calibri" pitchFamily="34" charset="-122"/>
                <a:cs typeface="Calibri" pitchFamily="34" charset="-120"/>
              </a:rPr>
              <a:t>customers · invoices · payments</a:t>
            </a:r>
            <a:endParaRPr lang="en-US" sz="1000" dirty="0"/>
          </a:p>
        </p:txBody>
      </p:sp>
      <p:sp>
        <p:nvSpPr>
          <p:cNvPr id="9" name="Text 7"/>
          <p:cNvSpPr txBox="1"/>
          <p:nvPr/>
        </p:nvSpPr>
        <p:spPr>
          <a:xfrm>
            <a:off x="2240280" y="2176272"/>
            <a:ext cx="219456" cy="457200"/>
          </a:xfrm>
          <a:prstGeom prst="rect">
            <a:avLst/>
          </a:prstGeom>
          <a:noFill/>
          <a:ln/>
        </p:spPr>
        <p:txBody>
          <a:bodyPr wrap="square" lIns="0" tIns="0" rIns="0" bIns="0" rtlCol="0" anchor="ctr"/>
          <a:lstStyle/>
          <a:p>
            <a:pPr marL="0" indent="0" algn="ctr">
              <a:buNone/>
            </a:pPr>
            <a:r>
              <a:rPr lang="en-US" sz="1600" b="1" dirty="0">
                <a:solidFill>
                  <a:srgbClr val="2F8F8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459736" y="1901952"/>
            <a:ext cx="1737360" cy="914400"/>
          </a:xfrm>
          <a:prstGeom prst="rect">
            <a:avLst/>
          </a:prstGeom>
          <a:solidFill>
            <a:srgbClr val="FFFFFF"/>
          </a:solidFill>
          <a:ln w="6350">
            <a:solidFill>
              <a:srgbClr val="D5E3E2"/>
            </a:solidFill>
            <a:prstDash val="solid"/>
          </a:ln>
        </p:spPr>
      </p:sp>
      <p:sp>
        <p:nvSpPr>
          <p:cNvPr id="11" name="Text 9"/>
          <p:cNvSpPr txBox="1"/>
          <p:nvPr/>
        </p:nvSpPr>
        <p:spPr>
          <a:xfrm>
            <a:off x="2569464" y="2029968"/>
            <a:ext cx="1554480" cy="365760"/>
          </a:xfrm>
          <a:prstGeom prst="rect">
            <a:avLst/>
          </a:prstGeom>
          <a:noFill/>
          <a:ln/>
        </p:spPr>
        <p:txBody>
          <a:bodyPr wrap="square" lIns="0" tIns="0" rIns="0" bIns="0" rtlCol="0" anchor="ctr"/>
          <a:lstStyle/>
          <a:p>
            <a:pPr marL="0" indent="0">
              <a:buNone/>
            </a:pPr>
            <a:r>
              <a:rPr lang="en-US" sz="1350" b="1" dirty="0">
                <a:solidFill>
                  <a:srgbClr val="1D3A38"/>
                </a:solidFill>
                <a:latin typeface="Calibri" pitchFamily="34" charset="0"/>
                <a:ea typeface="Calibri" pitchFamily="34" charset="-122"/>
                <a:cs typeface="Calibri" pitchFamily="34" charset="-120"/>
              </a:rPr>
              <a:t>Task Scheduler</a:t>
            </a:r>
            <a:endParaRPr lang="en-US" sz="1350" dirty="0"/>
          </a:p>
        </p:txBody>
      </p:sp>
      <p:sp>
        <p:nvSpPr>
          <p:cNvPr id="12" name="Text 10"/>
          <p:cNvSpPr txBox="1"/>
          <p:nvPr/>
        </p:nvSpPr>
        <p:spPr>
          <a:xfrm>
            <a:off x="2569464" y="2423160"/>
            <a:ext cx="1554480" cy="347472"/>
          </a:xfrm>
          <a:prstGeom prst="rect">
            <a:avLst/>
          </a:prstGeom>
          <a:noFill/>
          <a:ln/>
        </p:spPr>
        <p:txBody>
          <a:bodyPr wrap="square" lIns="0" tIns="0" rIns="0" bIns="0" rtlCol="0" anchor="ctr"/>
          <a:lstStyle/>
          <a:p>
            <a:pPr marL="0" indent="0">
              <a:buNone/>
            </a:pPr>
            <a:r>
              <a:rPr lang="en-US" sz="1000" dirty="0">
                <a:solidFill>
                  <a:srgbClr val="7A9290"/>
                </a:solidFill>
                <a:latin typeface="Calibri" pitchFamily="34" charset="0"/>
                <a:ea typeface="Calibri" pitchFamily="34" charset="-122"/>
                <a:cs typeface="Calibri" pitchFamily="34" charset="-120"/>
              </a:rPr>
              <a:t>Every 15 minutes</a:t>
            </a:r>
            <a:endParaRPr lang="en-US" sz="1000" dirty="0"/>
          </a:p>
        </p:txBody>
      </p:sp>
      <p:sp>
        <p:nvSpPr>
          <p:cNvPr id="13" name="Text 11"/>
          <p:cNvSpPr txBox="1"/>
          <p:nvPr/>
        </p:nvSpPr>
        <p:spPr>
          <a:xfrm>
            <a:off x="4197096" y="2176272"/>
            <a:ext cx="219456" cy="457200"/>
          </a:xfrm>
          <a:prstGeom prst="rect">
            <a:avLst/>
          </a:prstGeom>
          <a:noFill/>
          <a:ln/>
        </p:spPr>
        <p:txBody>
          <a:bodyPr wrap="square" lIns="0" tIns="0" rIns="0" bIns="0" rtlCol="0" anchor="ctr"/>
          <a:lstStyle/>
          <a:p>
            <a:pPr marL="0" indent="0" algn="ctr">
              <a:buNone/>
            </a:pPr>
            <a:r>
              <a:rPr lang="en-US" sz="1600" b="1" dirty="0">
                <a:solidFill>
                  <a:srgbClr val="2F8F8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416552" y="1901952"/>
            <a:ext cx="1737360" cy="914400"/>
          </a:xfrm>
          <a:prstGeom prst="rect">
            <a:avLst/>
          </a:prstGeom>
          <a:solidFill>
            <a:srgbClr val="1D3A38"/>
          </a:solidFill>
          <a:ln w="12700">
            <a:solidFill>
              <a:srgbClr val="D5E3E2"/>
            </a:solidFill>
            <a:prstDash val="solid"/>
          </a:ln>
        </p:spPr>
      </p:sp>
      <p:sp>
        <p:nvSpPr>
          <p:cNvPr id="15" name="Text 13"/>
          <p:cNvSpPr txBox="1"/>
          <p:nvPr/>
        </p:nvSpPr>
        <p:spPr>
          <a:xfrm>
            <a:off x="4526280" y="2029968"/>
            <a:ext cx="155448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Python Pipeline</a:t>
            </a:r>
            <a:endParaRPr lang="en-US" sz="1350" dirty="0"/>
          </a:p>
        </p:txBody>
      </p:sp>
      <p:sp>
        <p:nvSpPr>
          <p:cNvPr id="16" name="Text 14"/>
          <p:cNvSpPr txBox="1"/>
          <p:nvPr/>
        </p:nvSpPr>
        <p:spPr>
          <a:xfrm>
            <a:off x="4526280" y="2423160"/>
            <a:ext cx="1554480" cy="347472"/>
          </a:xfrm>
          <a:prstGeom prst="rect">
            <a:avLst/>
          </a:prstGeom>
          <a:noFill/>
          <a:ln/>
        </p:spPr>
        <p:txBody>
          <a:bodyPr wrap="square" lIns="0" tIns="0" rIns="0" bIns="0" rtlCol="0" anchor="ctr"/>
          <a:lstStyle/>
          <a:p>
            <a:pPr marL="0" indent="0">
              <a:buNone/>
            </a:pPr>
            <a:r>
              <a:rPr lang="en-US" sz="1000" dirty="0">
                <a:solidFill>
                  <a:srgbClr val="A2C5C3"/>
                </a:solidFill>
                <a:latin typeface="Calibri" pitchFamily="34" charset="0"/>
                <a:ea typeface="Calibri" pitchFamily="34" charset="-122"/>
                <a:cs typeface="Calibri" pitchFamily="34" charset="-120"/>
              </a:rPr>
              <a:t>Validate · Transform · Load</a:t>
            </a:r>
            <a:endParaRPr lang="en-US" sz="1000" dirty="0"/>
          </a:p>
        </p:txBody>
      </p:sp>
      <p:sp>
        <p:nvSpPr>
          <p:cNvPr id="17" name="Text 15"/>
          <p:cNvSpPr txBox="1"/>
          <p:nvPr/>
        </p:nvSpPr>
        <p:spPr>
          <a:xfrm>
            <a:off x="6153912" y="2176272"/>
            <a:ext cx="219456" cy="457200"/>
          </a:xfrm>
          <a:prstGeom prst="rect">
            <a:avLst/>
          </a:prstGeom>
          <a:noFill/>
          <a:ln/>
        </p:spPr>
        <p:txBody>
          <a:bodyPr wrap="square" lIns="0" tIns="0" rIns="0" bIns="0" rtlCol="0" anchor="ctr"/>
          <a:lstStyle/>
          <a:p>
            <a:pPr marL="0" indent="0" algn="ctr">
              <a:buNone/>
            </a:pPr>
            <a:r>
              <a:rPr lang="en-US" sz="1600" b="1" dirty="0">
                <a:solidFill>
                  <a:srgbClr val="2F8F8B"/>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6373368" y="1901952"/>
            <a:ext cx="1737360" cy="914400"/>
          </a:xfrm>
          <a:prstGeom prst="rect">
            <a:avLst/>
          </a:prstGeom>
          <a:solidFill>
            <a:srgbClr val="2F8F8B"/>
          </a:solidFill>
          <a:ln w="12700">
            <a:solidFill>
              <a:srgbClr val="D5E3E2"/>
            </a:solidFill>
            <a:prstDash val="solid"/>
          </a:ln>
        </p:spPr>
      </p:sp>
      <p:sp>
        <p:nvSpPr>
          <p:cNvPr id="19" name="Text 17"/>
          <p:cNvSpPr txBox="1"/>
          <p:nvPr/>
        </p:nvSpPr>
        <p:spPr>
          <a:xfrm>
            <a:off x="6483096" y="2029968"/>
            <a:ext cx="155448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PostgreSQL</a:t>
            </a:r>
            <a:endParaRPr lang="en-US" sz="1350" dirty="0"/>
          </a:p>
        </p:txBody>
      </p:sp>
      <p:sp>
        <p:nvSpPr>
          <p:cNvPr id="20" name="Text 18"/>
          <p:cNvSpPr txBox="1"/>
          <p:nvPr/>
        </p:nvSpPr>
        <p:spPr>
          <a:xfrm>
            <a:off x="6483096" y="2423160"/>
            <a:ext cx="1554480" cy="347472"/>
          </a:xfrm>
          <a:prstGeom prst="rect">
            <a:avLst/>
          </a:prstGeom>
          <a:noFill/>
          <a:ln/>
        </p:spPr>
        <p:txBody>
          <a:bodyPr wrap="square" lIns="0" tIns="0" rIns="0" bIns="0" rtlCol="0" anchor="ctr"/>
          <a:lstStyle/>
          <a:p>
            <a:pPr marL="0" indent="0">
              <a:buNone/>
            </a:pPr>
            <a:r>
              <a:rPr lang="en-US" sz="1000" dirty="0">
                <a:solidFill>
                  <a:srgbClr val="A2C5C3"/>
                </a:solidFill>
                <a:latin typeface="Calibri" pitchFamily="34" charset="0"/>
                <a:ea typeface="Calibri" pitchFamily="34" charset="-122"/>
                <a:cs typeface="Calibri" pitchFamily="34" charset="-120"/>
              </a:rPr>
              <a:t>4 core tables · Audit trail</a:t>
            </a:r>
            <a:endParaRPr lang="en-US" sz="1000" dirty="0"/>
          </a:p>
        </p:txBody>
      </p:sp>
      <p:sp>
        <p:nvSpPr>
          <p:cNvPr id="21" name="Text 19"/>
          <p:cNvSpPr txBox="1"/>
          <p:nvPr/>
        </p:nvSpPr>
        <p:spPr>
          <a:xfrm>
            <a:off x="8110728" y="2176272"/>
            <a:ext cx="219456" cy="457200"/>
          </a:xfrm>
          <a:prstGeom prst="rect">
            <a:avLst/>
          </a:prstGeom>
          <a:noFill/>
          <a:ln/>
        </p:spPr>
        <p:txBody>
          <a:bodyPr wrap="square" lIns="0" tIns="0" rIns="0" bIns="0" rtlCol="0" anchor="ctr"/>
          <a:lstStyle/>
          <a:p>
            <a:pPr marL="0" indent="0" algn="ctr">
              <a:buNone/>
            </a:pPr>
            <a:r>
              <a:rPr lang="en-US" sz="1600" b="1" dirty="0">
                <a:solidFill>
                  <a:srgbClr val="2F8F8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8330184" y="1901952"/>
            <a:ext cx="1737360" cy="914400"/>
          </a:xfrm>
          <a:prstGeom prst="rect">
            <a:avLst/>
          </a:prstGeom>
          <a:solidFill>
            <a:srgbClr val="FFFFFF"/>
          </a:solidFill>
          <a:ln w="6350">
            <a:solidFill>
              <a:srgbClr val="D5E3E2"/>
            </a:solidFill>
            <a:prstDash val="solid"/>
          </a:ln>
        </p:spPr>
      </p:sp>
      <p:sp>
        <p:nvSpPr>
          <p:cNvPr id="23" name="Text 21"/>
          <p:cNvSpPr txBox="1"/>
          <p:nvPr/>
        </p:nvSpPr>
        <p:spPr>
          <a:xfrm>
            <a:off x="8439912" y="2029968"/>
            <a:ext cx="1554480" cy="365760"/>
          </a:xfrm>
          <a:prstGeom prst="rect">
            <a:avLst/>
          </a:prstGeom>
          <a:noFill/>
          <a:ln/>
        </p:spPr>
        <p:txBody>
          <a:bodyPr wrap="square" lIns="0" tIns="0" rIns="0" bIns="0" rtlCol="0" anchor="ctr"/>
          <a:lstStyle/>
          <a:p>
            <a:pPr marL="0" indent="0">
              <a:buNone/>
            </a:pPr>
            <a:r>
              <a:rPr lang="en-US" sz="1350" b="1" dirty="0">
                <a:solidFill>
                  <a:srgbClr val="1D3A38"/>
                </a:solidFill>
                <a:latin typeface="Calibri" pitchFamily="34" charset="0"/>
                <a:ea typeface="Calibri" pitchFamily="34" charset="-122"/>
                <a:cs typeface="Calibri" pitchFamily="34" charset="-120"/>
              </a:rPr>
              <a:t>SQL Views</a:t>
            </a:r>
            <a:endParaRPr lang="en-US" sz="1350" dirty="0"/>
          </a:p>
        </p:txBody>
      </p:sp>
      <p:sp>
        <p:nvSpPr>
          <p:cNvPr id="24" name="Text 22"/>
          <p:cNvSpPr txBox="1"/>
          <p:nvPr/>
        </p:nvSpPr>
        <p:spPr>
          <a:xfrm>
            <a:off x="8439912" y="2423160"/>
            <a:ext cx="1554480" cy="347472"/>
          </a:xfrm>
          <a:prstGeom prst="rect">
            <a:avLst/>
          </a:prstGeom>
          <a:noFill/>
          <a:ln/>
        </p:spPr>
        <p:txBody>
          <a:bodyPr wrap="square" lIns="0" tIns="0" rIns="0" bIns="0" rtlCol="0" anchor="ctr"/>
          <a:lstStyle/>
          <a:p>
            <a:pPr marL="0" indent="0">
              <a:buNone/>
            </a:pPr>
            <a:r>
              <a:rPr lang="en-US" sz="1000" dirty="0">
                <a:solidFill>
                  <a:srgbClr val="7A9290"/>
                </a:solidFill>
                <a:latin typeface="Calibri" pitchFamily="34" charset="0"/>
                <a:ea typeface="Calibri" pitchFamily="34" charset="-122"/>
                <a:cs typeface="Calibri" pitchFamily="34" charset="-120"/>
              </a:rPr>
              <a:t>6 reporting views</a:t>
            </a:r>
            <a:endParaRPr lang="en-US" sz="1000" dirty="0"/>
          </a:p>
        </p:txBody>
      </p:sp>
      <p:sp>
        <p:nvSpPr>
          <p:cNvPr id="25" name="Text 23"/>
          <p:cNvSpPr txBox="1"/>
          <p:nvPr/>
        </p:nvSpPr>
        <p:spPr>
          <a:xfrm>
            <a:off x="10067544" y="2176272"/>
            <a:ext cx="219456" cy="457200"/>
          </a:xfrm>
          <a:prstGeom prst="rect">
            <a:avLst/>
          </a:prstGeom>
          <a:noFill/>
          <a:ln/>
        </p:spPr>
        <p:txBody>
          <a:bodyPr wrap="square" lIns="0" tIns="0" rIns="0" bIns="0" rtlCol="0" anchor="ctr"/>
          <a:lstStyle/>
          <a:p>
            <a:pPr marL="0" indent="0" algn="ctr">
              <a:buNone/>
            </a:pPr>
            <a:r>
              <a:rPr lang="en-US" sz="1600" b="1" dirty="0">
                <a:solidFill>
                  <a:srgbClr val="2F8F8B"/>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10287000" y="1901952"/>
            <a:ext cx="1737360" cy="914400"/>
          </a:xfrm>
          <a:prstGeom prst="rect">
            <a:avLst/>
          </a:prstGeom>
          <a:solidFill>
            <a:srgbClr val="FFFFFF"/>
          </a:solidFill>
          <a:ln w="6350">
            <a:solidFill>
              <a:srgbClr val="D5E3E2"/>
            </a:solidFill>
            <a:prstDash val="solid"/>
          </a:ln>
        </p:spPr>
      </p:sp>
      <p:sp>
        <p:nvSpPr>
          <p:cNvPr id="27" name="Text 25"/>
          <p:cNvSpPr txBox="1"/>
          <p:nvPr/>
        </p:nvSpPr>
        <p:spPr>
          <a:xfrm>
            <a:off x="10396728" y="2029968"/>
            <a:ext cx="1554480" cy="365760"/>
          </a:xfrm>
          <a:prstGeom prst="rect">
            <a:avLst/>
          </a:prstGeom>
          <a:noFill/>
          <a:ln/>
        </p:spPr>
        <p:txBody>
          <a:bodyPr wrap="square" lIns="0" tIns="0" rIns="0" bIns="0" rtlCol="0" anchor="ctr"/>
          <a:lstStyle/>
          <a:p>
            <a:pPr marL="0" indent="0">
              <a:buNone/>
            </a:pPr>
            <a:r>
              <a:rPr lang="en-US" sz="1350" b="1" dirty="0">
                <a:solidFill>
                  <a:srgbClr val="1D3A38"/>
                </a:solidFill>
                <a:latin typeface="Calibri" pitchFamily="34" charset="0"/>
                <a:ea typeface="Calibri" pitchFamily="34" charset="-122"/>
                <a:cs typeface="Calibri" pitchFamily="34" charset="-120"/>
              </a:rPr>
              <a:t>Power BI</a:t>
            </a:r>
            <a:endParaRPr lang="en-US" sz="1350" dirty="0"/>
          </a:p>
        </p:txBody>
      </p:sp>
      <p:sp>
        <p:nvSpPr>
          <p:cNvPr id="28" name="Text 26"/>
          <p:cNvSpPr txBox="1"/>
          <p:nvPr/>
        </p:nvSpPr>
        <p:spPr>
          <a:xfrm>
            <a:off x="10396728" y="2423160"/>
            <a:ext cx="1554480" cy="347472"/>
          </a:xfrm>
          <a:prstGeom prst="rect">
            <a:avLst/>
          </a:prstGeom>
          <a:noFill/>
          <a:ln/>
        </p:spPr>
        <p:txBody>
          <a:bodyPr wrap="square" lIns="0" tIns="0" rIns="0" bIns="0" rtlCol="0" anchor="ctr"/>
          <a:lstStyle/>
          <a:p>
            <a:pPr marL="0" indent="0">
              <a:buNone/>
            </a:pPr>
            <a:r>
              <a:rPr lang="en-US" sz="1000" dirty="0">
                <a:solidFill>
                  <a:srgbClr val="7A9290"/>
                </a:solidFill>
                <a:latin typeface="Calibri" pitchFamily="34" charset="0"/>
                <a:ea typeface="Calibri" pitchFamily="34" charset="-122"/>
                <a:cs typeface="Calibri" pitchFamily="34" charset="-120"/>
              </a:rPr>
              <a:t>4 dashboard pages</a:t>
            </a:r>
            <a:endParaRPr lang="en-US" sz="1000" dirty="0"/>
          </a:p>
        </p:txBody>
      </p:sp>
      <p:sp>
        <p:nvSpPr>
          <p:cNvPr id="29" name="Text 27"/>
          <p:cNvSpPr txBox="1"/>
          <p:nvPr/>
        </p:nvSpPr>
        <p:spPr>
          <a:xfrm>
            <a:off x="502920" y="3035808"/>
            <a:ext cx="11185855" cy="237744"/>
          </a:xfrm>
          <a:prstGeom prst="rect">
            <a:avLst/>
          </a:prstGeom>
          <a:noFill/>
          <a:ln/>
        </p:spPr>
        <p:txBody>
          <a:bodyPr wrap="square" lIns="0" tIns="0" rIns="0" bIns="0" rtlCol="0" anchor="ctr"/>
          <a:lstStyle/>
          <a:p>
            <a:pPr marL="0" indent="0">
              <a:buNone/>
            </a:pPr>
            <a:r>
              <a:rPr lang="en-US" sz="950" b="1" kern="0" spc="220" dirty="0">
                <a:solidFill>
                  <a:srgbClr val="7A9290"/>
                </a:solidFill>
                <a:latin typeface="Calibri" pitchFamily="34" charset="0"/>
                <a:ea typeface="Calibri" pitchFamily="34" charset="-122"/>
                <a:cs typeface="Calibri" pitchFamily="34" charset="-120"/>
              </a:rPr>
              <a:t>PIPELINE STEPS</a:t>
            </a:r>
            <a:endParaRPr lang="en-US" sz="950" dirty="0"/>
          </a:p>
        </p:txBody>
      </p:sp>
      <p:sp>
        <p:nvSpPr>
          <p:cNvPr id="30" name="Shape 28"/>
          <p:cNvSpPr/>
          <p:nvPr/>
        </p:nvSpPr>
        <p:spPr>
          <a:xfrm>
            <a:off x="502920" y="3401568"/>
            <a:ext cx="1481328" cy="2697480"/>
          </a:xfrm>
          <a:prstGeom prst="rect">
            <a:avLst/>
          </a:prstGeom>
          <a:solidFill>
            <a:srgbClr val="FFFFFF"/>
          </a:solidFill>
          <a:ln w="6350">
            <a:solidFill>
              <a:srgbClr val="D5E3E2"/>
            </a:solidFill>
            <a:prstDash val="solid"/>
          </a:ln>
        </p:spPr>
      </p:sp>
      <p:sp>
        <p:nvSpPr>
          <p:cNvPr id="31" name="Shape 29"/>
          <p:cNvSpPr/>
          <p:nvPr/>
        </p:nvSpPr>
        <p:spPr>
          <a:xfrm>
            <a:off x="969264" y="3520440"/>
            <a:ext cx="548640" cy="548640"/>
          </a:xfrm>
          <a:prstGeom prst="ellipse">
            <a:avLst/>
          </a:prstGeom>
          <a:solidFill>
            <a:srgbClr val="1D3A38"/>
          </a:solidFill>
          <a:ln/>
        </p:spPr>
      </p:sp>
      <p:sp>
        <p:nvSpPr>
          <p:cNvPr id="32" name="Text 30"/>
          <p:cNvSpPr txBox="1"/>
          <p:nvPr/>
        </p:nvSpPr>
        <p:spPr>
          <a:xfrm>
            <a:off x="969264"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Text 31"/>
          <p:cNvSpPr txBox="1"/>
          <p:nvPr/>
        </p:nvSpPr>
        <p:spPr>
          <a:xfrm>
            <a:off x="594360"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Detect &amp; Classify</a:t>
            </a:r>
            <a:endParaRPr lang="en-US" sz="1150" dirty="0"/>
          </a:p>
        </p:txBody>
      </p:sp>
      <p:sp>
        <p:nvSpPr>
          <p:cNvPr id="34" name="Text 32"/>
          <p:cNvSpPr txBox="1"/>
          <p:nvPr/>
        </p:nvSpPr>
        <p:spPr>
          <a:xfrm>
            <a:off x="594360"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Identifies CSV files by filename pattern</a:t>
            </a:r>
            <a:endParaRPr lang="en-US" sz="1050" dirty="0"/>
          </a:p>
        </p:txBody>
      </p:sp>
      <p:sp>
        <p:nvSpPr>
          <p:cNvPr id="35" name="Shape 33"/>
          <p:cNvSpPr/>
          <p:nvPr/>
        </p:nvSpPr>
        <p:spPr>
          <a:xfrm>
            <a:off x="2130552" y="3401568"/>
            <a:ext cx="1481328" cy="2697480"/>
          </a:xfrm>
          <a:prstGeom prst="rect">
            <a:avLst/>
          </a:prstGeom>
          <a:solidFill>
            <a:srgbClr val="FFFFFF"/>
          </a:solidFill>
          <a:ln w="6350">
            <a:solidFill>
              <a:srgbClr val="D5E3E2"/>
            </a:solidFill>
            <a:prstDash val="solid"/>
          </a:ln>
        </p:spPr>
      </p:sp>
      <p:sp>
        <p:nvSpPr>
          <p:cNvPr id="36" name="Shape 34"/>
          <p:cNvSpPr/>
          <p:nvPr/>
        </p:nvSpPr>
        <p:spPr>
          <a:xfrm>
            <a:off x="2596896" y="3520440"/>
            <a:ext cx="548640" cy="548640"/>
          </a:xfrm>
          <a:prstGeom prst="ellipse">
            <a:avLst/>
          </a:prstGeom>
          <a:solidFill>
            <a:srgbClr val="1D3A38"/>
          </a:solidFill>
          <a:ln/>
        </p:spPr>
      </p:sp>
      <p:sp>
        <p:nvSpPr>
          <p:cNvPr id="37" name="Text 35"/>
          <p:cNvSpPr txBox="1"/>
          <p:nvPr/>
        </p:nvSpPr>
        <p:spPr>
          <a:xfrm>
            <a:off x="2596896"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8" name="Text 36"/>
          <p:cNvSpPr txBox="1"/>
          <p:nvPr/>
        </p:nvSpPr>
        <p:spPr>
          <a:xfrm>
            <a:off x="2221992"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Validate</a:t>
            </a:r>
            <a:endParaRPr lang="en-US" sz="1150" dirty="0"/>
          </a:p>
        </p:txBody>
      </p:sp>
      <p:sp>
        <p:nvSpPr>
          <p:cNvPr id="39" name="Text 37"/>
          <p:cNvSpPr txBox="1"/>
          <p:nvPr/>
        </p:nvSpPr>
        <p:spPr>
          <a:xfrm>
            <a:off x="2221992"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Columns, nulls, types, business rules</a:t>
            </a:r>
            <a:endParaRPr lang="en-US" sz="1050" dirty="0"/>
          </a:p>
        </p:txBody>
      </p:sp>
      <p:sp>
        <p:nvSpPr>
          <p:cNvPr id="40" name="Shape 38"/>
          <p:cNvSpPr/>
          <p:nvPr/>
        </p:nvSpPr>
        <p:spPr>
          <a:xfrm>
            <a:off x="3758184" y="3401568"/>
            <a:ext cx="1481328" cy="2697480"/>
          </a:xfrm>
          <a:prstGeom prst="rect">
            <a:avLst/>
          </a:prstGeom>
          <a:solidFill>
            <a:srgbClr val="FFFFFF"/>
          </a:solidFill>
          <a:ln w="6350">
            <a:solidFill>
              <a:srgbClr val="D5E3E2"/>
            </a:solidFill>
            <a:prstDash val="solid"/>
          </a:ln>
        </p:spPr>
      </p:sp>
      <p:sp>
        <p:nvSpPr>
          <p:cNvPr id="41" name="Shape 39"/>
          <p:cNvSpPr/>
          <p:nvPr/>
        </p:nvSpPr>
        <p:spPr>
          <a:xfrm>
            <a:off x="4224528" y="3520440"/>
            <a:ext cx="548640" cy="548640"/>
          </a:xfrm>
          <a:prstGeom prst="ellipse">
            <a:avLst/>
          </a:prstGeom>
          <a:solidFill>
            <a:srgbClr val="1D3A38"/>
          </a:solidFill>
          <a:ln/>
        </p:spPr>
      </p:sp>
      <p:sp>
        <p:nvSpPr>
          <p:cNvPr id="42" name="Text 40"/>
          <p:cNvSpPr txBox="1"/>
          <p:nvPr/>
        </p:nvSpPr>
        <p:spPr>
          <a:xfrm>
            <a:off x="4224528"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41"/>
          <p:cNvSpPr txBox="1"/>
          <p:nvPr/>
        </p:nvSpPr>
        <p:spPr>
          <a:xfrm>
            <a:off x="3849624"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Deduplicate</a:t>
            </a:r>
            <a:endParaRPr lang="en-US" sz="1150" dirty="0"/>
          </a:p>
        </p:txBody>
      </p:sp>
      <p:sp>
        <p:nvSpPr>
          <p:cNvPr id="44" name="Text 42"/>
          <p:cNvSpPr txBox="1"/>
          <p:nvPr/>
        </p:nvSpPr>
        <p:spPr>
          <a:xfrm>
            <a:off x="3849624"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SHA-256 hash check against prior loads</a:t>
            </a:r>
            <a:endParaRPr lang="en-US" sz="1050" dirty="0"/>
          </a:p>
        </p:txBody>
      </p:sp>
      <p:sp>
        <p:nvSpPr>
          <p:cNvPr id="45" name="Shape 43"/>
          <p:cNvSpPr/>
          <p:nvPr/>
        </p:nvSpPr>
        <p:spPr>
          <a:xfrm>
            <a:off x="5385816" y="3401568"/>
            <a:ext cx="1481328" cy="2697480"/>
          </a:xfrm>
          <a:prstGeom prst="rect">
            <a:avLst/>
          </a:prstGeom>
          <a:solidFill>
            <a:srgbClr val="FFFFFF"/>
          </a:solidFill>
          <a:ln w="6350">
            <a:solidFill>
              <a:srgbClr val="D5E3E2"/>
            </a:solidFill>
            <a:prstDash val="solid"/>
          </a:ln>
        </p:spPr>
      </p:sp>
      <p:sp>
        <p:nvSpPr>
          <p:cNvPr id="46" name="Shape 44"/>
          <p:cNvSpPr/>
          <p:nvPr/>
        </p:nvSpPr>
        <p:spPr>
          <a:xfrm>
            <a:off x="5852160" y="3520440"/>
            <a:ext cx="548640" cy="548640"/>
          </a:xfrm>
          <a:prstGeom prst="ellipse">
            <a:avLst/>
          </a:prstGeom>
          <a:solidFill>
            <a:srgbClr val="1D3A38"/>
          </a:solidFill>
          <a:ln/>
        </p:spPr>
      </p:sp>
      <p:sp>
        <p:nvSpPr>
          <p:cNvPr id="47" name="Text 45"/>
          <p:cNvSpPr txBox="1"/>
          <p:nvPr/>
        </p:nvSpPr>
        <p:spPr>
          <a:xfrm>
            <a:off x="5852160"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8" name="Text 46"/>
          <p:cNvSpPr txBox="1"/>
          <p:nvPr/>
        </p:nvSpPr>
        <p:spPr>
          <a:xfrm>
            <a:off x="5477256"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Transform</a:t>
            </a:r>
            <a:endParaRPr lang="en-US" sz="1150" dirty="0"/>
          </a:p>
        </p:txBody>
      </p:sp>
      <p:sp>
        <p:nvSpPr>
          <p:cNvPr id="49" name="Text 47"/>
          <p:cNvSpPr txBox="1"/>
          <p:nvPr/>
        </p:nvSpPr>
        <p:spPr>
          <a:xfrm>
            <a:off x="5477256"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Clean and convert data to required formats</a:t>
            </a:r>
            <a:endParaRPr lang="en-US" sz="1050" dirty="0"/>
          </a:p>
        </p:txBody>
      </p:sp>
      <p:sp>
        <p:nvSpPr>
          <p:cNvPr id="50" name="Shape 48"/>
          <p:cNvSpPr/>
          <p:nvPr/>
        </p:nvSpPr>
        <p:spPr>
          <a:xfrm>
            <a:off x="7013448" y="3401568"/>
            <a:ext cx="1481328" cy="2697480"/>
          </a:xfrm>
          <a:prstGeom prst="rect">
            <a:avLst/>
          </a:prstGeom>
          <a:solidFill>
            <a:srgbClr val="FFFFFF"/>
          </a:solidFill>
          <a:ln w="6350">
            <a:solidFill>
              <a:srgbClr val="D5E3E2"/>
            </a:solidFill>
            <a:prstDash val="solid"/>
          </a:ln>
        </p:spPr>
      </p:sp>
      <p:sp>
        <p:nvSpPr>
          <p:cNvPr id="51" name="Shape 49"/>
          <p:cNvSpPr/>
          <p:nvPr/>
        </p:nvSpPr>
        <p:spPr>
          <a:xfrm>
            <a:off x="7479792" y="3520440"/>
            <a:ext cx="548640" cy="548640"/>
          </a:xfrm>
          <a:prstGeom prst="ellipse">
            <a:avLst/>
          </a:prstGeom>
          <a:solidFill>
            <a:srgbClr val="1D3A38"/>
          </a:solidFill>
          <a:ln/>
        </p:spPr>
      </p:sp>
      <p:sp>
        <p:nvSpPr>
          <p:cNvPr id="52" name="Text 50"/>
          <p:cNvSpPr txBox="1"/>
          <p:nvPr/>
        </p:nvSpPr>
        <p:spPr>
          <a:xfrm>
            <a:off x="7479792"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3" name="Text 51"/>
          <p:cNvSpPr txBox="1"/>
          <p:nvPr/>
        </p:nvSpPr>
        <p:spPr>
          <a:xfrm>
            <a:off x="7104888"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Load to DB</a:t>
            </a:r>
            <a:endParaRPr lang="en-US" sz="1150" dirty="0"/>
          </a:p>
        </p:txBody>
      </p:sp>
      <p:sp>
        <p:nvSpPr>
          <p:cNvPr id="54" name="Text 52"/>
          <p:cNvSpPr txBox="1"/>
          <p:nvPr/>
        </p:nvSpPr>
        <p:spPr>
          <a:xfrm>
            <a:off x="7104888"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Transactional insert into PostgreSQL</a:t>
            </a:r>
            <a:endParaRPr lang="en-US" sz="1050" dirty="0"/>
          </a:p>
        </p:txBody>
      </p:sp>
      <p:sp>
        <p:nvSpPr>
          <p:cNvPr id="55" name="Shape 53"/>
          <p:cNvSpPr/>
          <p:nvPr/>
        </p:nvSpPr>
        <p:spPr>
          <a:xfrm>
            <a:off x="8641080" y="3401568"/>
            <a:ext cx="1481328" cy="2697480"/>
          </a:xfrm>
          <a:prstGeom prst="rect">
            <a:avLst/>
          </a:prstGeom>
          <a:solidFill>
            <a:srgbClr val="FFFFFF"/>
          </a:solidFill>
          <a:ln w="6350">
            <a:solidFill>
              <a:srgbClr val="D5E3E2"/>
            </a:solidFill>
            <a:prstDash val="solid"/>
          </a:ln>
        </p:spPr>
      </p:sp>
      <p:sp>
        <p:nvSpPr>
          <p:cNvPr id="56" name="Shape 54"/>
          <p:cNvSpPr/>
          <p:nvPr/>
        </p:nvSpPr>
        <p:spPr>
          <a:xfrm>
            <a:off x="9107424" y="3520440"/>
            <a:ext cx="548640" cy="548640"/>
          </a:xfrm>
          <a:prstGeom prst="ellipse">
            <a:avLst/>
          </a:prstGeom>
          <a:solidFill>
            <a:srgbClr val="1D3A38"/>
          </a:solidFill>
          <a:ln/>
        </p:spPr>
      </p:sp>
      <p:sp>
        <p:nvSpPr>
          <p:cNvPr id="57" name="Text 55"/>
          <p:cNvSpPr txBox="1"/>
          <p:nvPr/>
        </p:nvSpPr>
        <p:spPr>
          <a:xfrm>
            <a:off x="9107424"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58" name="Text 56"/>
          <p:cNvSpPr txBox="1"/>
          <p:nvPr/>
        </p:nvSpPr>
        <p:spPr>
          <a:xfrm>
            <a:off x="8732520"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Record History</a:t>
            </a:r>
            <a:endParaRPr lang="en-US" sz="1150" dirty="0"/>
          </a:p>
        </p:txBody>
      </p:sp>
      <p:sp>
        <p:nvSpPr>
          <p:cNvPr id="59" name="Text 57"/>
          <p:cNvSpPr txBox="1"/>
          <p:nvPr/>
        </p:nvSpPr>
        <p:spPr>
          <a:xfrm>
            <a:off x="8732520"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SUCCESS · FAILED · SKIPPED logged</a:t>
            </a:r>
            <a:endParaRPr lang="en-US" sz="1050" dirty="0"/>
          </a:p>
        </p:txBody>
      </p:sp>
      <p:sp>
        <p:nvSpPr>
          <p:cNvPr id="60" name="Shape 58"/>
          <p:cNvSpPr/>
          <p:nvPr/>
        </p:nvSpPr>
        <p:spPr>
          <a:xfrm>
            <a:off x="10268712" y="3401568"/>
            <a:ext cx="1481328" cy="2697480"/>
          </a:xfrm>
          <a:prstGeom prst="rect">
            <a:avLst/>
          </a:prstGeom>
          <a:solidFill>
            <a:srgbClr val="FFFFFF"/>
          </a:solidFill>
          <a:ln w="6350">
            <a:solidFill>
              <a:srgbClr val="D5E3E2"/>
            </a:solidFill>
            <a:prstDash val="solid"/>
          </a:ln>
        </p:spPr>
      </p:sp>
      <p:sp>
        <p:nvSpPr>
          <p:cNvPr id="61" name="Shape 59"/>
          <p:cNvSpPr/>
          <p:nvPr/>
        </p:nvSpPr>
        <p:spPr>
          <a:xfrm>
            <a:off x="10735056" y="3520440"/>
            <a:ext cx="548640" cy="548640"/>
          </a:xfrm>
          <a:prstGeom prst="ellipse">
            <a:avLst/>
          </a:prstGeom>
          <a:solidFill>
            <a:srgbClr val="1D3A38"/>
          </a:solidFill>
          <a:ln/>
        </p:spPr>
      </p:sp>
      <p:sp>
        <p:nvSpPr>
          <p:cNvPr id="62" name="Text 60"/>
          <p:cNvSpPr txBox="1"/>
          <p:nvPr/>
        </p:nvSpPr>
        <p:spPr>
          <a:xfrm>
            <a:off x="10735056" y="35204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63" name="Text 61"/>
          <p:cNvSpPr txBox="1"/>
          <p:nvPr/>
        </p:nvSpPr>
        <p:spPr>
          <a:xfrm>
            <a:off x="10360152" y="4160520"/>
            <a:ext cx="1325880"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1D3A38"/>
                </a:solidFill>
                <a:latin typeface="Calibri" pitchFamily="34" charset="0"/>
                <a:ea typeface="Calibri" pitchFamily="34" charset="-122"/>
                <a:cs typeface="Calibri" pitchFamily="34" charset="-120"/>
              </a:rPr>
              <a:t>Report</a:t>
            </a:r>
            <a:endParaRPr lang="en-US" sz="1150" dirty="0"/>
          </a:p>
        </p:txBody>
      </p:sp>
      <p:sp>
        <p:nvSpPr>
          <p:cNvPr id="64" name="Text 62"/>
          <p:cNvSpPr txBox="1"/>
          <p:nvPr/>
        </p:nvSpPr>
        <p:spPr>
          <a:xfrm>
            <a:off x="10360152" y="4645152"/>
            <a:ext cx="1325880" cy="1298448"/>
          </a:xfrm>
          <a:prstGeom prst="rect">
            <a:avLst/>
          </a:prstGeom>
          <a:noFill/>
          <a:ln/>
        </p:spPr>
        <p:txBody>
          <a:bodyPr wrap="square" lIns="0" tIns="0" rIns="0" bIns="0" rtlCol="0" anchor="ctr"/>
          <a:lstStyle/>
          <a:p>
            <a:pPr marL="0" indent="0" algn="ctr">
              <a:lnSpc>
                <a:spcPct val="110000"/>
              </a:lnSpc>
              <a:buNone/>
            </a:pPr>
            <a:r>
              <a:rPr lang="en-US" sz="1050" dirty="0">
                <a:solidFill>
                  <a:srgbClr val="7A9290"/>
                </a:solidFill>
                <a:latin typeface="Calibri" pitchFamily="34" charset="0"/>
                <a:ea typeface="Calibri" pitchFamily="34" charset="-122"/>
                <a:cs typeface="Calibri" pitchFamily="34" charset="-120"/>
              </a:rPr>
              <a:t>SQL views → Power BI ready</a:t>
            </a:r>
            <a:endParaRPr lang="en-US" sz="1050" dirty="0"/>
          </a:p>
        </p:txBody>
      </p:sp>
      <p:sp>
        <p:nvSpPr>
          <p:cNvPr id="65" name="Text 63"/>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DATA QUALITY</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700" b="1" dirty="0">
                <a:solidFill>
                  <a:srgbClr val="1D3A38"/>
                </a:solidFill>
                <a:latin typeface="Calibri" pitchFamily="34" charset="0"/>
                <a:ea typeface="Calibri" pitchFamily="34" charset="-122"/>
                <a:cs typeface="Calibri" pitchFamily="34" charset="-120"/>
              </a:rPr>
              <a:t>Every file is validated before a single record reaches the database.</a:t>
            </a:r>
            <a:endParaRPr lang="en-US" sz="2700" dirty="0"/>
          </a:p>
        </p:txBody>
      </p:sp>
      <p:sp>
        <p:nvSpPr>
          <p:cNvPr id="5" name="Shape 3"/>
          <p:cNvSpPr/>
          <p:nvPr/>
        </p:nvSpPr>
        <p:spPr>
          <a:xfrm>
            <a:off x="502920" y="1709928"/>
            <a:ext cx="11185855" cy="14630"/>
          </a:xfrm>
          <a:prstGeom prst="rect">
            <a:avLst/>
          </a:prstGeom>
          <a:solidFill>
            <a:srgbClr val="D5E3E2"/>
          </a:solidFill>
          <a:ln/>
        </p:spPr>
      </p:sp>
      <p:sp>
        <p:nvSpPr>
          <p:cNvPr id="6" name="Text 4"/>
          <p:cNvSpPr txBox="1"/>
          <p:nvPr/>
        </p:nvSpPr>
        <p:spPr>
          <a:xfrm>
            <a:off x="502920" y="1920240"/>
            <a:ext cx="5577840" cy="237744"/>
          </a:xfrm>
          <a:prstGeom prst="rect">
            <a:avLst/>
          </a:prstGeom>
          <a:noFill/>
          <a:ln/>
        </p:spPr>
        <p:txBody>
          <a:bodyPr wrap="square" lIns="0" tIns="0" rIns="0" bIns="0" rtlCol="0" anchor="ctr"/>
          <a:lstStyle/>
          <a:p>
            <a:pPr marL="0" indent="0">
              <a:buNone/>
            </a:pPr>
            <a:r>
              <a:rPr lang="en-US" sz="950" b="1" kern="0" spc="220" dirty="0">
                <a:solidFill>
                  <a:srgbClr val="7A9290"/>
                </a:solidFill>
                <a:latin typeface="Calibri" pitchFamily="34" charset="0"/>
                <a:ea typeface="Calibri" pitchFamily="34" charset="-122"/>
                <a:cs typeface="Calibri" pitchFamily="34" charset="-120"/>
              </a:rPr>
              <a:t>VALIDATION CHECKS</a:t>
            </a:r>
            <a:endParaRPr lang="en-US" sz="950" dirty="0"/>
          </a:p>
        </p:txBody>
      </p:sp>
      <p:sp>
        <p:nvSpPr>
          <p:cNvPr id="7" name="Shape 5"/>
          <p:cNvSpPr/>
          <p:nvPr/>
        </p:nvSpPr>
        <p:spPr>
          <a:xfrm>
            <a:off x="502920" y="2267712"/>
            <a:ext cx="5577840" cy="548640"/>
          </a:xfrm>
          <a:prstGeom prst="rect">
            <a:avLst/>
          </a:prstGeom>
          <a:solidFill>
            <a:srgbClr val="FFFFFF"/>
          </a:solidFill>
          <a:ln w="6350">
            <a:solidFill>
              <a:srgbClr val="D5E3E2"/>
            </a:solidFill>
            <a:prstDash val="solid"/>
          </a:ln>
        </p:spPr>
      </p:sp>
      <p:sp>
        <p:nvSpPr>
          <p:cNvPr id="8" name="Shape 6"/>
          <p:cNvSpPr/>
          <p:nvPr/>
        </p:nvSpPr>
        <p:spPr>
          <a:xfrm>
            <a:off x="502920" y="2267712"/>
            <a:ext cx="45720" cy="548640"/>
          </a:xfrm>
          <a:prstGeom prst="rect">
            <a:avLst/>
          </a:prstGeom>
          <a:solidFill>
            <a:srgbClr val="2F8F8B"/>
          </a:solidFill>
          <a:ln/>
        </p:spPr>
      </p:sp>
      <p:sp>
        <p:nvSpPr>
          <p:cNvPr id="9" name="Text 7"/>
          <p:cNvSpPr txBox="1"/>
          <p:nvPr/>
        </p:nvSpPr>
        <p:spPr>
          <a:xfrm>
            <a:off x="704088" y="2304288"/>
            <a:ext cx="2011680" cy="274320"/>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Required Columns</a:t>
            </a:r>
            <a:endParaRPr lang="en-US" sz="1200" dirty="0"/>
          </a:p>
        </p:txBody>
      </p:sp>
      <p:sp>
        <p:nvSpPr>
          <p:cNvPr id="10" name="Text 8"/>
          <p:cNvSpPr txBox="1"/>
          <p:nvPr/>
        </p:nvSpPr>
        <p:spPr>
          <a:xfrm>
            <a:off x="704088" y="2560320"/>
            <a:ext cx="5212080" cy="219456"/>
          </a:xfrm>
          <a:prstGeom prst="rect">
            <a:avLst/>
          </a:prstGeom>
          <a:noFill/>
          <a:ln/>
        </p:spPr>
        <p:txBody>
          <a:bodyPr wrap="square" lIns="0" tIns="0" rIns="0" bIns="0" rtlCol="0" anchor="ctr"/>
          <a:lstStyle/>
          <a:p>
            <a:pPr marL="0" indent="0">
              <a:buNone/>
            </a:pPr>
            <a:r>
              <a:rPr lang="en-US" sz="1100" dirty="0">
                <a:solidFill>
                  <a:srgbClr val="2B3D3C"/>
                </a:solidFill>
                <a:latin typeface="Calibri" pitchFamily="34" charset="0"/>
                <a:ea typeface="Calibri" pitchFamily="34" charset="-122"/>
                <a:cs typeface="Calibri" pitchFamily="34" charset="-120"/>
              </a:rPr>
              <a:t>All expected columns must be present before validation proceeds.</a:t>
            </a:r>
            <a:endParaRPr lang="en-US" sz="1100" dirty="0"/>
          </a:p>
        </p:txBody>
      </p:sp>
      <p:sp>
        <p:nvSpPr>
          <p:cNvPr id="11" name="Shape 9"/>
          <p:cNvSpPr/>
          <p:nvPr/>
        </p:nvSpPr>
        <p:spPr>
          <a:xfrm>
            <a:off x="502920" y="2889504"/>
            <a:ext cx="5577840" cy="548640"/>
          </a:xfrm>
          <a:prstGeom prst="rect">
            <a:avLst/>
          </a:prstGeom>
          <a:solidFill>
            <a:srgbClr val="FFFFFF"/>
          </a:solidFill>
          <a:ln w="6350">
            <a:solidFill>
              <a:srgbClr val="D5E3E2"/>
            </a:solidFill>
            <a:prstDash val="solid"/>
          </a:ln>
        </p:spPr>
      </p:sp>
      <p:sp>
        <p:nvSpPr>
          <p:cNvPr id="12" name="Shape 10"/>
          <p:cNvSpPr/>
          <p:nvPr/>
        </p:nvSpPr>
        <p:spPr>
          <a:xfrm>
            <a:off x="502920" y="2889504"/>
            <a:ext cx="45720" cy="548640"/>
          </a:xfrm>
          <a:prstGeom prst="rect">
            <a:avLst/>
          </a:prstGeom>
          <a:solidFill>
            <a:srgbClr val="2F8F8B"/>
          </a:solidFill>
          <a:ln/>
        </p:spPr>
      </p:sp>
      <p:sp>
        <p:nvSpPr>
          <p:cNvPr id="13" name="Text 11"/>
          <p:cNvSpPr txBox="1"/>
          <p:nvPr/>
        </p:nvSpPr>
        <p:spPr>
          <a:xfrm>
            <a:off x="704088" y="2926080"/>
            <a:ext cx="2011680" cy="274320"/>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Missing Values</a:t>
            </a:r>
            <a:endParaRPr lang="en-US" sz="1200" dirty="0"/>
          </a:p>
        </p:txBody>
      </p:sp>
      <p:sp>
        <p:nvSpPr>
          <p:cNvPr id="14" name="Text 12"/>
          <p:cNvSpPr txBox="1"/>
          <p:nvPr/>
        </p:nvSpPr>
        <p:spPr>
          <a:xfrm>
            <a:off x="704088" y="3182112"/>
            <a:ext cx="5212080" cy="219456"/>
          </a:xfrm>
          <a:prstGeom prst="rect">
            <a:avLst/>
          </a:prstGeom>
          <a:noFill/>
          <a:ln/>
        </p:spPr>
        <p:txBody>
          <a:bodyPr wrap="square" lIns="0" tIns="0" rIns="0" bIns="0" rtlCol="0" anchor="ctr"/>
          <a:lstStyle/>
          <a:p>
            <a:pPr marL="0" indent="0">
              <a:buNone/>
            </a:pPr>
            <a:r>
              <a:rPr lang="en-US" sz="1100" dirty="0">
                <a:solidFill>
                  <a:srgbClr val="2B3D3C"/>
                </a:solidFill>
                <a:latin typeface="Calibri" pitchFamily="34" charset="0"/>
                <a:ea typeface="Calibri" pitchFamily="34" charset="-122"/>
                <a:cs typeface="Calibri" pitchFamily="34" charset="-120"/>
              </a:rPr>
              <a:t>Required fields are checked for null or empty values.</a:t>
            </a:r>
            <a:endParaRPr lang="en-US" sz="1100" dirty="0"/>
          </a:p>
        </p:txBody>
      </p:sp>
      <p:sp>
        <p:nvSpPr>
          <p:cNvPr id="15" name="Shape 13"/>
          <p:cNvSpPr/>
          <p:nvPr/>
        </p:nvSpPr>
        <p:spPr>
          <a:xfrm>
            <a:off x="502920" y="3511296"/>
            <a:ext cx="5577840" cy="548640"/>
          </a:xfrm>
          <a:prstGeom prst="rect">
            <a:avLst/>
          </a:prstGeom>
          <a:solidFill>
            <a:srgbClr val="FFFFFF"/>
          </a:solidFill>
          <a:ln w="6350">
            <a:solidFill>
              <a:srgbClr val="D5E3E2"/>
            </a:solidFill>
            <a:prstDash val="solid"/>
          </a:ln>
        </p:spPr>
      </p:sp>
      <p:sp>
        <p:nvSpPr>
          <p:cNvPr id="16" name="Shape 14"/>
          <p:cNvSpPr/>
          <p:nvPr/>
        </p:nvSpPr>
        <p:spPr>
          <a:xfrm>
            <a:off x="502920" y="3511296"/>
            <a:ext cx="45720" cy="548640"/>
          </a:xfrm>
          <a:prstGeom prst="rect">
            <a:avLst/>
          </a:prstGeom>
          <a:solidFill>
            <a:srgbClr val="2F8F8B"/>
          </a:solidFill>
          <a:ln/>
        </p:spPr>
      </p:sp>
      <p:sp>
        <p:nvSpPr>
          <p:cNvPr id="17" name="Text 15"/>
          <p:cNvSpPr txBox="1"/>
          <p:nvPr/>
        </p:nvSpPr>
        <p:spPr>
          <a:xfrm>
            <a:off x="704088" y="3547872"/>
            <a:ext cx="2011680" cy="274320"/>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Duplicate IDs</a:t>
            </a:r>
            <a:endParaRPr lang="en-US" sz="1200" dirty="0"/>
          </a:p>
        </p:txBody>
      </p:sp>
      <p:sp>
        <p:nvSpPr>
          <p:cNvPr id="18" name="Text 16"/>
          <p:cNvSpPr txBox="1"/>
          <p:nvPr/>
        </p:nvSpPr>
        <p:spPr>
          <a:xfrm>
            <a:off x="704088" y="3803904"/>
            <a:ext cx="5212080" cy="219456"/>
          </a:xfrm>
          <a:prstGeom prst="rect">
            <a:avLst/>
          </a:prstGeom>
          <a:noFill/>
          <a:ln/>
        </p:spPr>
        <p:txBody>
          <a:bodyPr wrap="square" lIns="0" tIns="0" rIns="0" bIns="0" rtlCol="0" anchor="ctr"/>
          <a:lstStyle/>
          <a:p>
            <a:pPr marL="0" indent="0">
              <a:buNone/>
            </a:pPr>
            <a:r>
              <a:rPr lang="en-US" sz="1100" dirty="0">
                <a:solidFill>
                  <a:srgbClr val="2B3D3C"/>
                </a:solidFill>
                <a:latin typeface="Calibri" pitchFamily="34" charset="0"/>
                <a:ea typeface="Calibri" pitchFamily="34" charset="-122"/>
                <a:cs typeface="Calibri" pitchFamily="34" charset="-120"/>
              </a:rPr>
              <a:t>CustomerID, InvoiceID, and PaymentID duplicates within a file are caught.</a:t>
            </a:r>
            <a:endParaRPr lang="en-US" sz="1100" dirty="0"/>
          </a:p>
        </p:txBody>
      </p:sp>
      <p:sp>
        <p:nvSpPr>
          <p:cNvPr id="19" name="Shape 17"/>
          <p:cNvSpPr/>
          <p:nvPr/>
        </p:nvSpPr>
        <p:spPr>
          <a:xfrm>
            <a:off x="502920" y="4133088"/>
            <a:ext cx="5577840" cy="548640"/>
          </a:xfrm>
          <a:prstGeom prst="rect">
            <a:avLst/>
          </a:prstGeom>
          <a:solidFill>
            <a:srgbClr val="FFFFFF"/>
          </a:solidFill>
          <a:ln w="6350">
            <a:solidFill>
              <a:srgbClr val="D5E3E2"/>
            </a:solidFill>
            <a:prstDash val="solid"/>
          </a:ln>
        </p:spPr>
      </p:sp>
      <p:sp>
        <p:nvSpPr>
          <p:cNvPr id="20" name="Shape 18"/>
          <p:cNvSpPr/>
          <p:nvPr/>
        </p:nvSpPr>
        <p:spPr>
          <a:xfrm>
            <a:off x="502920" y="4133088"/>
            <a:ext cx="45720" cy="548640"/>
          </a:xfrm>
          <a:prstGeom prst="rect">
            <a:avLst/>
          </a:prstGeom>
          <a:solidFill>
            <a:srgbClr val="2F8F8B"/>
          </a:solidFill>
          <a:ln/>
        </p:spPr>
      </p:sp>
      <p:sp>
        <p:nvSpPr>
          <p:cNvPr id="21" name="Text 19"/>
          <p:cNvSpPr txBox="1"/>
          <p:nvPr/>
        </p:nvSpPr>
        <p:spPr>
          <a:xfrm>
            <a:off x="704088" y="4169664"/>
            <a:ext cx="2011680" cy="274320"/>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Numeric Validation</a:t>
            </a:r>
            <a:endParaRPr lang="en-US" sz="1200" dirty="0"/>
          </a:p>
        </p:txBody>
      </p:sp>
      <p:sp>
        <p:nvSpPr>
          <p:cNvPr id="22" name="Text 20"/>
          <p:cNvSpPr txBox="1"/>
          <p:nvPr/>
        </p:nvSpPr>
        <p:spPr>
          <a:xfrm>
            <a:off x="704088" y="4425696"/>
            <a:ext cx="5212080" cy="219456"/>
          </a:xfrm>
          <a:prstGeom prst="rect">
            <a:avLst/>
          </a:prstGeom>
          <a:noFill/>
          <a:ln/>
        </p:spPr>
        <p:txBody>
          <a:bodyPr wrap="square" lIns="0" tIns="0" rIns="0" bIns="0" rtlCol="0" anchor="ctr"/>
          <a:lstStyle/>
          <a:p>
            <a:pPr marL="0" indent="0">
              <a:buNone/>
            </a:pPr>
            <a:r>
              <a:rPr lang="en-US" sz="1100" dirty="0">
                <a:solidFill>
                  <a:srgbClr val="2B3D3C"/>
                </a:solidFill>
                <a:latin typeface="Calibri" pitchFamily="34" charset="0"/>
                <a:ea typeface="Calibri" pitchFamily="34" charset="-122"/>
                <a:cs typeface="Calibri" pitchFamily="34" charset="-120"/>
              </a:rPr>
              <a:t>Payment terms and amounts must contain valid numeric values.</a:t>
            </a:r>
            <a:endParaRPr lang="en-US" sz="1100" dirty="0"/>
          </a:p>
        </p:txBody>
      </p:sp>
      <p:sp>
        <p:nvSpPr>
          <p:cNvPr id="23" name="Shape 21"/>
          <p:cNvSpPr/>
          <p:nvPr/>
        </p:nvSpPr>
        <p:spPr>
          <a:xfrm>
            <a:off x="502920" y="4754880"/>
            <a:ext cx="5577840" cy="548640"/>
          </a:xfrm>
          <a:prstGeom prst="rect">
            <a:avLst/>
          </a:prstGeom>
          <a:solidFill>
            <a:srgbClr val="FFFFFF"/>
          </a:solidFill>
          <a:ln w="6350">
            <a:solidFill>
              <a:srgbClr val="D5E3E2"/>
            </a:solidFill>
            <a:prstDash val="solid"/>
          </a:ln>
        </p:spPr>
      </p:sp>
      <p:sp>
        <p:nvSpPr>
          <p:cNvPr id="24" name="Shape 22"/>
          <p:cNvSpPr/>
          <p:nvPr/>
        </p:nvSpPr>
        <p:spPr>
          <a:xfrm>
            <a:off x="502920" y="4754880"/>
            <a:ext cx="45720" cy="548640"/>
          </a:xfrm>
          <a:prstGeom prst="rect">
            <a:avLst/>
          </a:prstGeom>
          <a:solidFill>
            <a:srgbClr val="2F8F8B"/>
          </a:solidFill>
          <a:ln/>
        </p:spPr>
      </p:sp>
      <p:sp>
        <p:nvSpPr>
          <p:cNvPr id="25" name="Text 23"/>
          <p:cNvSpPr txBox="1"/>
          <p:nvPr/>
        </p:nvSpPr>
        <p:spPr>
          <a:xfrm>
            <a:off x="704088" y="4791456"/>
            <a:ext cx="2011680" cy="274320"/>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Date Validation</a:t>
            </a:r>
            <a:endParaRPr lang="en-US" sz="1200" dirty="0"/>
          </a:p>
        </p:txBody>
      </p:sp>
      <p:sp>
        <p:nvSpPr>
          <p:cNvPr id="26" name="Text 24"/>
          <p:cNvSpPr txBox="1"/>
          <p:nvPr/>
        </p:nvSpPr>
        <p:spPr>
          <a:xfrm>
            <a:off x="704088" y="5047488"/>
            <a:ext cx="5212080" cy="219456"/>
          </a:xfrm>
          <a:prstGeom prst="rect">
            <a:avLst/>
          </a:prstGeom>
          <a:noFill/>
          <a:ln/>
        </p:spPr>
        <p:txBody>
          <a:bodyPr wrap="square" lIns="0" tIns="0" rIns="0" bIns="0" rtlCol="0" anchor="ctr"/>
          <a:lstStyle/>
          <a:p>
            <a:pPr marL="0" indent="0">
              <a:buNone/>
            </a:pPr>
            <a:r>
              <a:rPr lang="en-US" sz="1100" dirty="0">
                <a:solidFill>
                  <a:srgbClr val="2B3D3C"/>
                </a:solidFill>
                <a:latin typeface="Calibri" pitchFamily="34" charset="0"/>
                <a:ea typeface="Calibri" pitchFamily="34" charset="-122"/>
                <a:cs typeface="Calibri" pitchFamily="34" charset="-120"/>
              </a:rPr>
              <a:t>Invoice, due, and payment dates must be parseable.</a:t>
            </a:r>
            <a:endParaRPr lang="en-US" sz="1100" dirty="0"/>
          </a:p>
        </p:txBody>
      </p:sp>
      <p:sp>
        <p:nvSpPr>
          <p:cNvPr id="27" name="Shape 25"/>
          <p:cNvSpPr/>
          <p:nvPr/>
        </p:nvSpPr>
        <p:spPr>
          <a:xfrm>
            <a:off x="502920" y="5376672"/>
            <a:ext cx="5577840" cy="548640"/>
          </a:xfrm>
          <a:prstGeom prst="rect">
            <a:avLst/>
          </a:prstGeom>
          <a:solidFill>
            <a:srgbClr val="FFFFFF"/>
          </a:solidFill>
          <a:ln w="6350">
            <a:solidFill>
              <a:srgbClr val="D5E3E2"/>
            </a:solidFill>
            <a:prstDash val="solid"/>
          </a:ln>
        </p:spPr>
      </p:sp>
      <p:sp>
        <p:nvSpPr>
          <p:cNvPr id="28" name="Shape 26"/>
          <p:cNvSpPr/>
          <p:nvPr/>
        </p:nvSpPr>
        <p:spPr>
          <a:xfrm>
            <a:off x="502920" y="5376672"/>
            <a:ext cx="45720" cy="548640"/>
          </a:xfrm>
          <a:prstGeom prst="rect">
            <a:avLst/>
          </a:prstGeom>
          <a:solidFill>
            <a:srgbClr val="2F8F8B"/>
          </a:solidFill>
          <a:ln/>
        </p:spPr>
      </p:sp>
      <p:sp>
        <p:nvSpPr>
          <p:cNvPr id="29" name="Text 27"/>
          <p:cNvSpPr txBox="1"/>
          <p:nvPr/>
        </p:nvSpPr>
        <p:spPr>
          <a:xfrm>
            <a:off x="704088" y="5413248"/>
            <a:ext cx="2011680" cy="274320"/>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Business Rules</a:t>
            </a:r>
            <a:endParaRPr lang="en-US" sz="1200" dirty="0"/>
          </a:p>
        </p:txBody>
      </p:sp>
      <p:sp>
        <p:nvSpPr>
          <p:cNvPr id="30" name="Text 28"/>
          <p:cNvSpPr txBox="1"/>
          <p:nvPr/>
        </p:nvSpPr>
        <p:spPr>
          <a:xfrm>
            <a:off x="704088" y="5669280"/>
            <a:ext cx="5212080" cy="219456"/>
          </a:xfrm>
          <a:prstGeom prst="rect">
            <a:avLst/>
          </a:prstGeom>
          <a:noFill/>
          <a:ln/>
        </p:spPr>
        <p:txBody>
          <a:bodyPr wrap="square" lIns="0" tIns="0" rIns="0" bIns="0" rtlCol="0" anchor="ctr"/>
          <a:lstStyle/>
          <a:p>
            <a:pPr marL="0" indent="0">
              <a:buNone/>
            </a:pPr>
            <a:r>
              <a:rPr lang="en-US" sz="1100" dirty="0">
                <a:solidFill>
                  <a:srgbClr val="2B3D3C"/>
                </a:solidFill>
                <a:latin typeface="Calibri" pitchFamily="34" charset="0"/>
                <a:ea typeface="Calibri" pitchFamily="34" charset="-122"/>
                <a:cs typeface="Calibri" pitchFamily="34" charset="-120"/>
              </a:rPr>
              <a:t>Positive amounts, valid payment terms, due date ≥ invoice date.</a:t>
            </a:r>
            <a:endParaRPr lang="en-US" sz="1100" dirty="0"/>
          </a:p>
        </p:txBody>
      </p:sp>
      <p:sp>
        <p:nvSpPr>
          <p:cNvPr id="31" name="Text 29"/>
          <p:cNvSpPr txBox="1"/>
          <p:nvPr/>
        </p:nvSpPr>
        <p:spPr>
          <a:xfrm>
            <a:off x="6446520" y="1920240"/>
            <a:ext cx="5193792" cy="237744"/>
          </a:xfrm>
          <a:prstGeom prst="rect">
            <a:avLst/>
          </a:prstGeom>
          <a:noFill/>
          <a:ln/>
        </p:spPr>
        <p:txBody>
          <a:bodyPr wrap="square" lIns="0" tIns="0" rIns="0" bIns="0" rtlCol="0" anchor="ctr"/>
          <a:lstStyle/>
          <a:p>
            <a:pPr marL="0" indent="0">
              <a:buNone/>
            </a:pPr>
            <a:r>
              <a:rPr lang="en-US" sz="950" b="1" kern="0" spc="220" dirty="0">
                <a:solidFill>
                  <a:srgbClr val="7A9290"/>
                </a:solidFill>
                <a:latin typeface="Calibri" pitchFamily="34" charset="0"/>
                <a:ea typeface="Calibri" pitchFamily="34" charset="-122"/>
                <a:cs typeface="Calibri" pitchFamily="34" charset="-120"/>
              </a:rPr>
              <a:t>FILE LIFECYCLE OUTCOMES</a:t>
            </a:r>
            <a:endParaRPr lang="en-US" sz="950" dirty="0"/>
          </a:p>
        </p:txBody>
      </p:sp>
      <p:sp>
        <p:nvSpPr>
          <p:cNvPr id="32" name="Shape 30"/>
          <p:cNvSpPr/>
          <p:nvPr/>
        </p:nvSpPr>
        <p:spPr>
          <a:xfrm>
            <a:off x="6446520" y="2267712"/>
            <a:ext cx="5193792" cy="1060704"/>
          </a:xfrm>
          <a:prstGeom prst="rect">
            <a:avLst/>
          </a:prstGeom>
          <a:solidFill>
            <a:srgbClr val="FFFFFF"/>
          </a:solidFill>
          <a:ln w="6350">
            <a:solidFill>
              <a:srgbClr val="D5E3E2"/>
            </a:solidFill>
            <a:prstDash val="solid"/>
          </a:ln>
        </p:spPr>
      </p:sp>
      <p:sp>
        <p:nvSpPr>
          <p:cNvPr id="33" name="Shape 31"/>
          <p:cNvSpPr/>
          <p:nvPr/>
        </p:nvSpPr>
        <p:spPr>
          <a:xfrm>
            <a:off x="6446520" y="2267712"/>
            <a:ext cx="5193792" cy="36576"/>
          </a:xfrm>
          <a:prstGeom prst="rect">
            <a:avLst/>
          </a:prstGeom>
          <a:solidFill>
            <a:srgbClr val="1D3A38"/>
          </a:solidFill>
          <a:ln/>
        </p:spPr>
      </p:sp>
      <p:sp>
        <p:nvSpPr>
          <p:cNvPr id="34" name="Text 32"/>
          <p:cNvSpPr txBox="1"/>
          <p:nvPr/>
        </p:nvSpPr>
        <p:spPr>
          <a:xfrm>
            <a:off x="6629400" y="2395728"/>
            <a:ext cx="1371600" cy="329184"/>
          </a:xfrm>
          <a:prstGeom prst="rect">
            <a:avLst/>
          </a:prstGeom>
          <a:noFill/>
          <a:ln/>
        </p:spPr>
        <p:txBody>
          <a:bodyPr wrap="square" lIns="0" tIns="0" rIns="0" bIns="0" rtlCol="0" anchor="ctr"/>
          <a:lstStyle/>
          <a:p>
            <a:pPr marL="0" indent="0">
              <a:buNone/>
            </a:pPr>
            <a:r>
              <a:rPr lang="en-US" sz="1700" b="1" dirty="0">
                <a:solidFill>
                  <a:srgbClr val="1D3A38"/>
                </a:solidFill>
                <a:latin typeface="Calibri" pitchFamily="34" charset="0"/>
                <a:ea typeface="Calibri" pitchFamily="34" charset="-122"/>
                <a:cs typeface="Calibri" pitchFamily="34" charset="-120"/>
              </a:rPr>
              <a:t>SUCCESS</a:t>
            </a:r>
            <a:endParaRPr lang="en-US" sz="1700" dirty="0"/>
          </a:p>
        </p:txBody>
      </p:sp>
      <p:sp>
        <p:nvSpPr>
          <p:cNvPr id="35" name="Text 33"/>
          <p:cNvSpPr txBox="1"/>
          <p:nvPr/>
        </p:nvSpPr>
        <p:spPr>
          <a:xfrm>
            <a:off x="6629400" y="2743200"/>
            <a:ext cx="2286000" cy="256032"/>
          </a:xfrm>
          <a:prstGeom prst="rect">
            <a:avLst/>
          </a:prstGeom>
          <a:noFill/>
          <a:ln/>
        </p:spPr>
        <p:txBody>
          <a:bodyPr wrap="square" lIns="0" tIns="0" rIns="0" bIns="0" rtlCol="0" anchor="ctr"/>
          <a:lstStyle/>
          <a:p>
            <a:pPr marL="0" indent="0">
              <a:buNone/>
            </a:pPr>
            <a:r>
              <a:rPr lang="en-US" sz="1050" i="1" dirty="0">
                <a:solidFill>
                  <a:srgbClr val="7A9290"/>
                </a:solidFill>
                <a:latin typeface="Calibri" pitchFamily="34" charset="0"/>
                <a:ea typeface="Calibri" pitchFamily="34" charset="-122"/>
                <a:cs typeface="Calibri" pitchFamily="34" charset="-120"/>
              </a:rPr>
              <a:t>data/processed/</a:t>
            </a:r>
            <a:endParaRPr lang="en-US" sz="1050" dirty="0"/>
          </a:p>
        </p:txBody>
      </p:sp>
      <p:sp>
        <p:nvSpPr>
          <p:cNvPr id="36" name="Text 34"/>
          <p:cNvSpPr txBox="1"/>
          <p:nvPr/>
        </p:nvSpPr>
        <p:spPr>
          <a:xfrm>
            <a:off x="8229600" y="2377440"/>
            <a:ext cx="3246120" cy="841248"/>
          </a:xfrm>
          <a:prstGeom prst="rect">
            <a:avLst/>
          </a:prstGeom>
          <a:noFill/>
          <a:ln/>
        </p:spPr>
        <p:txBody>
          <a:bodyPr wrap="square" lIns="0" tIns="0" rIns="0" bIns="0" rtlCol="0" anchor="ctr"/>
          <a:lstStyle/>
          <a:p>
            <a:pPr marL="0" indent="0">
              <a:lnSpc>
                <a:spcPct val="110000"/>
              </a:lnSpc>
              <a:buNone/>
            </a:pPr>
            <a:r>
              <a:rPr lang="en-US" sz="1200" dirty="0">
                <a:solidFill>
                  <a:srgbClr val="2B3D3C"/>
                </a:solidFill>
                <a:latin typeface="Calibri" pitchFamily="34" charset="0"/>
                <a:ea typeface="Calibri" pitchFamily="34" charset="-122"/>
                <a:cs typeface="Calibri" pitchFamily="34" charset="-120"/>
              </a:rPr>
              <a:t>Passed all validation. Loaded into PostgreSQL.</a:t>
            </a:r>
            <a:endParaRPr lang="en-US" sz="1200" dirty="0"/>
          </a:p>
        </p:txBody>
      </p:sp>
      <p:sp>
        <p:nvSpPr>
          <p:cNvPr id="37" name="Shape 35"/>
          <p:cNvSpPr/>
          <p:nvPr/>
        </p:nvSpPr>
        <p:spPr>
          <a:xfrm>
            <a:off x="6446520" y="3410712"/>
            <a:ext cx="5193792" cy="1060704"/>
          </a:xfrm>
          <a:prstGeom prst="rect">
            <a:avLst/>
          </a:prstGeom>
          <a:solidFill>
            <a:srgbClr val="FFFFFF"/>
          </a:solidFill>
          <a:ln w="6350">
            <a:solidFill>
              <a:srgbClr val="D5E3E2"/>
            </a:solidFill>
            <a:prstDash val="solid"/>
          </a:ln>
        </p:spPr>
      </p:sp>
      <p:sp>
        <p:nvSpPr>
          <p:cNvPr id="38" name="Shape 36"/>
          <p:cNvSpPr/>
          <p:nvPr/>
        </p:nvSpPr>
        <p:spPr>
          <a:xfrm>
            <a:off x="6446520" y="3410712"/>
            <a:ext cx="5193792" cy="36576"/>
          </a:xfrm>
          <a:prstGeom prst="rect">
            <a:avLst/>
          </a:prstGeom>
          <a:solidFill>
            <a:srgbClr val="B05020"/>
          </a:solidFill>
          <a:ln/>
        </p:spPr>
      </p:sp>
      <p:sp>
        <p:nvSpPr>
          <p:cNvPr id="39" name="Text 37"/>
          <p:cNvSpPr txBox="1"/>
          <p:nvPr/>
        </p:nvSpPr>
        <p:spPr>
          <a:xfrm>
            <a:off x="6629400" y="3538728"/>
            <a:ext cx="1371600" cy="329184"/>
          </a:xfrm>
          <a:prstGeom prst="rect">
            <a:avLst/>
          </a:prstGeom>
          <a:noFill/>
          <a:ln/>
        </p:spPr>
        <p:txBody>
          <a:bodyPr wrap="square" lIns="0" tIns="0" rIns="0" bIns="0" rtlCol="0" anchor="ctr"/>
          <a:lstStyle/>
          <a:p>
            <a:pPr marL="0" indent="0">
              <a:buNone/>
            </a:pPr>
            <a:r>
              <a:rPr lang="en-US" sz="1700" b="1" dirty="0">
                <a:solidFill>
                  <a:srgbClr val="B05020"/>
                </a:solidFill>
                <a:latin typeface="Calibri" pitchFamily="34" charset="0"/>
                <a:ea typeface="Calibri" pitchFamily="34" charset="-122"/>
                <a:cs typeface="Calibri" pitchFamily="34" charset="-120"/>
              </a:rPr>
              <a:t>FAILED</a:t>
            </a:r>
            <a:endParaRPr lang="en-US" sz="1700" dirty="0"/>
          </a:p>
        </p:txBody>
      </p:sp>
      <p:sp>
        <p:nvSpPr>
          <p:cNvPr id="40" name="Text 38"/>
          <p:cNvSpPr txBox="1"/>
          <p:nvPr/>
        </p:nvSpPr>
        <p:spPr>
          <a:xfrm>
            <a:off x="6629400" y="3886200"/>
            <a:ext cx="2286000" cy="256032"/>
          </a:xfrm>
          <a:prstGeom prst="rect">
            <a:avLst/>
          </a:prstGeom>
          <a:noFill/>
          <a:ln/>
        </p:spPr>
        <p:txBody>
          <a:bodyPr wrap="square" lIns="0" tIns="0" rIns="0" bIns="0" rtlCol="0" anchor="ctr"/>
          <a:lstStyle/>
          <a:p>
            <a:pPr marL="0" indent="0">
              <a:buNone/>
            </a:pPr>
            <a:r>
              <a:rPr lang="en-US" sz="1050" i="1" dirty="0">
                <a:solidFill>
                  <a:srgbClr val="7A9290"/>
                </a:solidFill>
                <a:latin typeface="Calibri" pitchFamily="34" charset="0"/>
                <a:ea typeface="Calibri" pitchFamily="34" charset="-122"/>
                <a:cs typeface="Calibri" pitchFamily="34" charset="-120"/>
              </a:rPr>
              <a:t>data/failed/</a:t>
            </a:r>
            <a:endParaRPr lang="en-US" sz="1050" dirty="0"/>
          </a:p>
        </p:txBody>
      </p:sp>
      <p:sp>
        <p:nvSpPr>
          <p:cNvPr id="41" name="Text 39"/>
          <p:cNvSpPr txBox="1"/>
          <p:nvPr/>
        </p:nvSpPr>
        <p:spPr>
          <a:xfrm>
            <a:off x="8229600" y="3520440"/>
            <a:ext cx="3246120" cy="841248"/>
          </a:xfrm>
          <a:prstGeom prst="rect">
            <a:avLst/>
          </a:prstGeom>
          <a:noFill/>
          <a:ln/>
        </p:spPr>
        <p:txBody>
          <a:bodyPr wrap="square" lIns="0" tIns="0" rIns="0" bIns="0" rtlCol="0" anchor="ctr"/>
          <a:lstStyle/>
          <a:p>
            <a:pPr marL="0" indent="0">
              <a:lnSpc>
                <a:spcPct val="110000"/>
              </a:lnSpc>
              <a:buNone/>
            </a:pPr>
            <a:r>
              <a:rPr lang="en-US" sz="1200" dirty="0">
                <a:solidFill>
                  <a:srgbClr val="2B3D3C"/>
                </a:solidFill>
                <a:latin typeface="Calibri" pitchFamily="34" charset="0"/>
                <a:ea typeface="Calibri" pitchFamily="34" charset="-122"/>
                <a:cs typeface="Calibri" pitchFamily="34" charset="-120"/>
              </a:rPr>
              <a:t>Failed validation or encountered a processing error. No data loaded.</a:t>
            </a:r>
            <a:endParaRPr lang="en-US" sz="1200" dirty="0"/>
          </a:p>
        </p:txBody>
      </p:sp>
      <p:sp>
        <p:nvSpPr>
          <p:cNvPr id="42" name="Shape 40"/>
          <p:cNvSpPr/>
          <p:nvPr/>
        </p:nvSpPr>
        <p:spPr>
          <a:xfrm>
            <a:off x="6446520" y="4553712"/>
            <a:ext cx="5193792" cy="1060704"/>
          </a:xfrm>
          <a:prstGeom prst="rect">
            <a:avLst/>
          </a:prstGeom>
          <a:solidFill>
            <a:srgbClr val="FFFFFF"/>
          </a:solidFill>
          <a:ln w="6350">
            <a:solidFill>
              <a:srgbClr val="D5E3E2"/>
            </a:solidFill>
            <a:prstDash val="solid"/>
          </a:ln>
        </p:spPr>
      </p:sp>
      <p:sp>
        <p:nvSpPr>
          <p:cNvPr id="43" name="Shape 41"/>
          <p:cNvSpPr/>
          <p:nvPr/>
        </p:nvSpPr>
        <p:spPr>
          <a:xfrm>
            <a:off x="6446520" y="4553712"/>
            <a:ext cx="5193792" cy="36576"/>
          </a:xfrm>
          <a:prstGeom prst="rect">
            <a:avLst/>
          </a:prstGeom>
          <a:solidFill>
            <a:srgbClr val="47908C"/>
          </a:solidFill>
          <a:ln/>
        </p:spPr>
      </p:sp>
      <p:sp>
        <p:nvSpPr>
          <p:cNvPr id="44" name="Text 42"/>
          <p:cNvSpPr txBox="1"/>
          <p:nvPr/>
        </p:nvSpPr>
        <p:spPr>
          <a:xfrm>
            <a:off x="6629400" y="4681728"/>
            <a:ext cx="1371600" cy="329184"/>
          </a:xfrm>
          <a:prstGeom prst="rect">
            <a:avLst/>
          </a:prstGeom>
          <a:noFill/>
          <a:ln/>
        </p:spPr>
        <p:txBody>
          <a:bodyPr wrap="square" lIns="0" tIns="0" rIns="0" bIns="0" rtlCol="0" anchor="ctr"/>
          <a:lstStyle/>
          <a:p>
            <a:pPr marL="0" indent="0">
              <a:buNone/>
            </a:pPr>
            <a:r>
              <a:rPr lang="en-US" sz="1700" b="1" dirty="0">
                <a:solidFill>
                  <a:srgbClr val="47908C"/>
                </a:solidFill>
                <a:latin typeface="Calibri" pitchFamily="34" charset="0"/>
                <a:ea typeface="Calibri" pitchFamily="34" charset="-122"/>
                <a:cs typeface="Calibri" pitchFamily="34" charset="-120"/>
              </a:rPr>
              <a:t>SKIPPED</a:t>
            </a:r>
            <a:endParaRPr lang="en-US" sz="1700" dirty="0"/>
          </a:p>
        </p:txBody>
      </p:sp>
      <p:sp>
        <p:nvSpPr>
          <p:cNvPr id="45" name="Text 43"/>
          <p:cNvSpPr txBox="1"/>
          <p:nvPr/>
        </p:nvSpPr>
        <p:spPr>
          <a:xfrm>
            <a:off x="6629400" y="5029200"/>
            <a:ext cx="2286000" cy="256032"/>
          </a:xfrm>
          <a:prstGeom prst="rect">
            <a:avLst/>
          </a:prstGeom>
          <a:noFill/>
          <a:ln/>
        </p:spPr>
        <p:txBody>
          <a:bodyPr wrap="square" lIns="0" tIns="0" rIns="0" bIns="0" rtlCol="0" anchor="ctr"/>
          <a:lstStyle/>
          <a:p>
            <a:pPr marL="0" indent="0">
              <a:buNone/>
            </a:pPr>
            <a:r>
              <a:rPr lang="en-US" sz="1050" i="1" dirty="0">
                <a:solidFill>
                  <a:srgbClr val="7A9290"/>
                </a:solidFill>
                <a:latin typeface="Calibri" pitchFamily="34" charset="0"/>
                <a:ea typeface="Calibri" pitchFamily="34" charset="-122"/>
                <a:cs typeface="Calibri" pitchFamily="34" charset="-120"/>
              </a:rPr>
              <a:t>data/skipped/</a:t>
            </a:r>
            <a:endParaRPr lang="en-US" sz="1050" dirty="0"/>
          </a:p>
        </p:txBody>
      </p:sp>
      <p:sp>
        <p:nvSpPr>
          <p:cNvPr id="46" name="Text 44"/>
          <p:cNvSpPr txBox="1"/>
          <p:nvPr/>
        </p:nvSpPr>
        <p:spPr>
          <a:xfrm>
            <a:off x="8229600" y="4663440"/>
            <a:ext cx="3246120" cy="841248"/>
          </a:xfrm>
          <a:prstGeom prst="rect">
            <a:avLst/>
          </a:prstGeom>
          <a:noFill/>
          <a:ln/>
        </p:spPr>
        <p:txBody>
          <a:bodyPr wrap="square" lIns="0" tIns="0" rIns="0" bIns="0" rtlCol="0" anchor="ctr"/>
          <a:lstStyle/>
          <a:p>
            <a:pPr marL="0" indent="0">
              <a:lnSpc>
                <a:spcPct val="110000"/>
              </a:lnSpc>
              <a:buNone/>
            </a:pPr>
            <a:r>
              <a:rPr lang="en-US" sz="1200" dirty="0">
                <a:solidFill>
                  <a:srgbClr val="2B3D3C"/>
                </a:solidFill>
                <a:latin typeface="Calibri" pitchFamily="34" charset="0"/>
                <a:ea typeface="Calibri" pitchFamily="34" charset="-122"/>
                <a:cs typeface="Calibri" pitchFamily="34" charset="-120"/>
              </a:rPr>
              <a:t>SHA-256 hash matched a prior successful load. No duplicate inserted.</a:t>
            </a:r>
            <a:endParaRPr lang="en-US" sz="1200" dirty="0"/>
          </a:p>
        </p:txBody>
      </p:sp>
      <p:sp>
        <p:nvSpPr>
          <p:cNvPr id="47" name="Shape 45"/>
          <p:cNvSpPr/>
          <p:nvPr/>
        </p:nvSpPr>
        <p:spPr>
          <a:xfrm>
            <a:off x="6446520" y="6291072"/>
            <a:ext cx="5193792" cy="0"/>
          </a:xfrm>
          <a:prstGeom prst="rect">
            <a:avLst/>
          </a:prstGeom>
          <a:solidFill>
            <a:srgbClr val="1D3A38"/>
          </a:solidFill>
          <a:ln/>
        </p:spPr>
      </p:sp>
      <p:sp>
        <p:nvSpPr>
          <p:cNvPr id="48" name="Shape 46"/>
          <p:cNvSpPr/>
          <p:nvPr/>
        </p:nvSpPr>
        <p:spPr>
          <a:xfrm>
            <a:off x="6446520" y="5687568"/>
            <a:ext cx="5193792" cy="713232"/>
          </a:xfrm>
          <a:prstGeom prst="rect">
            <a:avLst/>
          </a:prstGeom>
          <a:solidFill>
            <a:srgbClr val="1D3A38"/>
          </a:solidFill>
          <a:ln/>
        </p:spPr>
      </p:sp>
      <p:sp>
        <p:nvSpPr>
          <p:cNvPr id="49" name="Text 47"/>
          <p:cNvSpPr txBox="1"/>
          <p:nvPr/>
        </p:nvSpPr>
        <p:spPr>
          <a:xfrm>
            <a:off x="6629400" y="5687568"/>
            <a:ext cx="4846320" cy="713232"/>
          </a:xfrm>
          <a:prstGeom prst="rect">
            <a:avLst/>
          </a:prstGeom>
          <a:noFill/>
          <a:ln/>
        </p:spPr>
        <p:txBody>
          <a:bodyPr wrap="square" lIns="0" tIns="0" rIns="0" bIns="0" rtlCol="0" anchor="ctr"/>
          <a:lstStyle/>
          <a:p>
            <a:pPr marL="0" indent="0">
              <a:lnSpc>
                <a:spcPct val="110000"/>
              </a:lnSpc>
              <a:buNone/>
            </a:pPr>
            <a:r>
              <a:rPr lang="en-US" sz="1250" b="1" dirty="0">
                <a:solidFill>
                  <a:srgbClr val="A2C5C3"/>
                </a:solidFill>
                <a:latin typeface="Calibri" pitchFamily="34" charset="0"/>
                <a:ea typeface="Calibri" pitchFamily="34" charset="-122"/>
                <a:cs typeface="Calibri" pitchFamily="34" charset="-120"/>
              </a:rPr>
              <a:t>SHA-256 hash-based deduplication makes every pipeline run safe and idempotent.</a:t>
            </a:r>
            <a:endParaRPr lang="en-US" sz="1250" dirty="0"/>
          </a:p>
        </p:txBody>
      </p:sp>
      <p:sp>
        <p:nvSpPr>
          <p:cNvPr id="50" name="Text 48"/>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DASHBOARD · PAGE 1</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700" b="1" dirty="0">
                <a:solidFill>
                  <a:srgbClr val="1D3A38"/>
                </a:solidFill>
                <a:latin typeface="Calibri" pitchFamily="34" charset="0"/>
                <a:ea typeface="Calibri" pitchFamily="34" charset="-122"/>
                <a:cs typeface="Calibri" pitchFamily="34" charset="-120"/>
              </a:rPr>
              <a:t>Executive Finance Overview — the financial pulse at a glance.</a:t>
            </a:r>
            <a:endParaRPr lang="en-US" sz="2700" dirty="0"/>
          </a:p>
        </p:txBody>
      </p:sp>
      <p:sp>
        <p:nvSpPr>
          <p:cNvPr id="5" name="Shape 3"/>
          <p:cNvSpPr/>
          <p:nvPr/>
        </p:nvSpPr>
        <p:spPr>
          <a:xfrm>
            <a:off x="502920" y="1709928"/>
            <a:ext cx="11185855" cy="14630"/>
          </a:xfrm>
          <a:prstGeom prst="rect">
            <a:avLst/>
          </a:prstGeom>
          <a:solidFill>
            <a:srgbClr val="D5E3E2"/>
          </a:solidFill>
          <a:ln/>
        </p:spPr>
      </p:sp>
      <p:sp>
        <p:nvSpPr>
          <p:cNvPr id="6" name="Shape 4"/>
          <p:cNvSpPr/>
          <p:nvPr/>
        </p:nvSpPr>
        <p:spPr>
          <a:xfrm>
            <a:off x="457200" y="1856232"/>
            <a:ext cx="11277295" cy="960120"/>
          </a:xfrm>
          <a:prstGeom prst="rect">
            <a:avLst/>
          </a:prstGeom>
          <a:solidFill>
            <a:srgbClr val="FFFFFF"/>
          </a:solidFill>
          <a:ln w="7620">
            <a:solidFill>
              <a:srgbClr val="D5E3E2"/>
            </a:solidFill>
            <a:prstDash val="solid"/>
          </a:ln>
        </p:spPr>
      </p:sp>
      <p:sp>
        <p:nvSpPr>
          <p:cNvPr id="8" name="Shape 5"/>
          <p:cNvSpPr/>
          <p:nvPr/>
        </p:nvSpPr>
        <p:spPr>
          <a:xfrm>
            <a:off x="457200" y="2862072"/>
            <a:ext cx="5989320" cy="2670048"/>
          </a:xfrm>
          <a:prstGeom prst="rect">
            <a:avLst/>
          </a:prstGeom>
          <a:solidFill>
            <a:srgbClr val="FFFFFF"/>
          </a:solidFill>
          <a:ln w="7620">
            <a:solidFill>
              <a:srgbClr val="D5E3E2"/>
            </a:solidFill>
            <a:prstDash val="solid"/>
          </a:ln>
        </p:spPr>
      </p:sp>
      <p:sp>
        <p:nvSpPr>
          <p:cNvPr id="10" name="Shape 6"/>
          <p:cNvSpPr/>
          <p:nvPr/>
        </p:nvSpPr>
        <p:spPr>
          <a:xfrm>
            <a:off x="6080760" y="2862072"/>
            <a:ext cx="5833872" cy="2670048"/>
          </a:xfrm>
          <a:prstGeom prst="rect">
            <a:avLst/>
          </a:prstGeom>
          <a:solidFill>
            <a:srgbClr val="FFFFFF"/>
          </a:solidFill>
          <a:ln w="7620">
            <a:solidFill>
              <a:srgbClr val="D5E3E2"/>
            </a:solidFill>
            <a:prstDash val="solid"/>
          </a:ln>
        </p:spPr>
      </p:sp>
      <p:sp>
        <p:nvSpPr>
          <p:cNvPr id="12" name="Shape 7"/>
          <p:cNvSpPr/>
          <p:nvPr/>
        </p:nvSpPr>
        <p:spPr>
          <a:xfrm>
            <a:off x="502920" y="5596128"/>
            <a:ext cx="2651760" cy="658368"/>
          </a:xfrm>
          <a:prstGeom prst="rect">
            <a:avLst/>
          </a:prstGeom>
          <a:solidFill>
            <a:srgbClr val="FFFFFF"/>
          </a:solidFill>
          <a:ln w="6350">
            <a:solidFill>
              <a:srgbClr val="D5E3E2"/>
            </a:solidFill>
            <a:prstDash val="solid"/>
          </a:ln>
        </p:spPr>
      </p:sp>
      <p:sp>
        <p:nvSpPr>
          <p:cNvPr id="13" name="Text 8"/>
          <p:cNvSpPr txBox="1"/>
          <p:nvPr/>
        </p:nvSpPr>
        <p:spPr>
          <a:xfrm>
            <a:off x="667512" y="5596128"/>
            <a:ext cx="1371600" cy="658368"/>
          </a:xfrm>
          <a:prstGeom prst="rect">
            <a:avLst/>
          </a:prstGeom>
          <a:noFill/>
          <a:ln/>
        </p:spPr>
        <p:txBody>
          <a:bodyPr wrap="square" lIns="0" tIns="0" rIns="0" bIns="0" rtlCol="0" anchor="ctr"/>
          <a:lstStyle/>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148.08M</a:t>
            </a:r>
            <a:endParaRPr lang="en-US" sz="1200" dirty="0"/>
          </a:p>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Total Invoiced</a:t>
            </a:r>
            <a:endParaRPr lang="en-US" sz="1200" dirty="0"/>
          </a:p>
        </p:txBody>
      </p:sp>
      <p:sp>
        <p:nvSpPr>
          <p:cNvPr id="14" name="Text 9"/>
          <p:cNvSpPr txBox="1"/>
          <p:nvPr/>
        </p:nvSpPr>
        <p:spPr>
          <a:xfrm>
            <a:off x="2011680" y="5596128"/>
            <a:ext cx="1005840" cy="658368"/>
          </a:xfrm>
          <a:prstGeom prst="rect">
            <a:avLst/>
          </a:prstGeom>
          <a:noFill/>
          <a:ln/>
        </p:spPr>
        <p:txBody>
          <a:bodyPr wrap="square" lIns="0" tIns="0" rIns="0" bIns="0" rtlCol="0" anchor="ctr"/>
          <a:lstStyle/>
          <a:p>
            <a:pPr marL="0" indent="0">
              <a:lnSpc>
                <a:spcPct val="110000"/>
              </a:lnSpc>
              <a:buNone/>
            </a:pPr>
            <a:r>
              <a:rPr lang="en-US" sz="1050" dirty="0">
                <a:solidFill>
                  <a:srgbClr val="2B3D3C"/>
                </a:solidFill>
                <a:latin typeface="Calibri" pitchFamily="34" charset="0"/>
                <a:ea typeface="Calibri" pitchFamily="34" charset="-122"/>
                <a:cs typeface="Calibri" pitchFamily="34" charset="-120"/>
              </a:rPr>
              <a:t>Full portfolio invoiced across the analysis period.</a:t>
            </a:r>
            <a:endParaRPr lang="en-US" sz="1050" dirty="0"/>
          </a:p>
        </p:txBody>
      </p:sp>
      <p:sp>
        <p:nvSpPr>
          <p:cNvPr id="15" name="Shape 10"/>
          <p:cNvSpPr/>
          <p:nvPr/>
        </p:nvSpPr>
        <p:spPr>
          <a:xfrm>
            <a:off x="3319272" y="5596128"/>
            <a:ext cx="2651760" cy="658368"/>
          </a:xfrm>
          <a:prstGeom prst="rect">
            <a:avLst/>
          </a:prstGeom>
          <a:solidFill>
            <a:srgbClr val="FFFFFF"/>
          </a:solidFill>
          <a:ln w="6350">
            <a:solidFill>
              <a:srgbClr val="D5E3E2"/>
            </a:solidFill>
            <a:prstDash val="solid"/>
          </a:ln>
        </p:spPr>
      </p:sp>
      <p:sp>
        <p:nvSpPr>
          <p:cNvPr id="16" name="Text 11"/>
          <p:cNvSpPr txBox="1"/>
          <p:nvPr/>
        </p:nvSpPr>
        <p:spPr>
          <a:xfrm>
            <a:off x="3483864" y="5596128"/>
            <a:ext cx="1371600" cy="658368"/>
          </a:xfrm>
          <a:prstGeom prst="rect">
            <a:avLst/>
          </a:prstGeom>
          <a:noFill/>
          <a:ln/>
        </p:spPr>
        <p:txBody>
          <a:bodyPr wrap="square" lIns="0" tIns="0" rIns="0" bIns="0" rtlCol="0" anchor="ctr"/>
          <a:lstStyle/>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69.41%</a:t>
            </a:r>
            <a:endParaRPr lang="en-US" sz="1200" dirty="0"/>
          </a:p>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Collection Rate</a:t>
            </a:r>
            <a:endParaRPr lang="en-US" sz="1200" dirty="0"/>
          </a:p>
        </p:txBody>
      </p:sp>
      <p:sp>
        <p:nvSpPr>
          <p:cNvPr id="17" name="Text 12"/>
          <p:cNvSpPr txBox="1"/>
          <p:nvPr/>
        </p:nvSpPr>
        <p:spPr>
          <a:xfrm>
            <a:off x="4828032" y="5596128"/>
            <a:ext cx="1005840" cy="658368"/>
          </a:xfrm>
          <a:prstGeom prst="rect">
            <a:avLst/>
          </a:prstGeom>
          <a:noFill/>
          <a:ln/>
        </p:spPr>
        <p:txBody>
          <a:bodyPr wrap="square" lIns="0" tIns="0" rIns="0" bIns="0" rtlCol="0" anchor="ctr"/>
          <a:lstStyle/>
          <a:p>
            <a:pPr marL="0" indent="0">
              <a:lnSpc>
                <a:spcPct val="110000"/>
              </a:lnSpc>
              <a:buNone/>
            </a:pPr>
            <a:r>
              <a:rPr lang="en-US" sz="1050" dirty="0">
                <a:solidFill>
                  <a:srgbClr val="2B3D3C"/>
                </a:solidFill>
                <a:latin typeface="Calibri" pitchFamily="34" charset="0"/>
                <a:ea typeface="Calibri" pitchFamily="34" charset="-122"/>
                <a:cs typeface="Calibri" pitchFamily="34" charset="-120"/>
              </a:rPr>
              <a:t>Active payment collection — 102.79M received.</a:t>
            </a:r>
            <a:endParaRPr lang="en-US" sz="1050" dirty="0"/>
          </a:p>
        </p:txBody>
      </p:sp>
      <p:sp>
        <p:nvSpPr>
          <p:cNvPr id="18" name="Shape 13"/>
          <p:cNvSpPr/>
          <p:nvPr/>
        </p:nvSpPr>
        <p:spPr>
          <a:xfrm>
            <a:off x="6135624" y="5596128"/>
            <a:ext cx="2651760" cy="658368"/>
          </a:xfrm>
          <a:prstGeom prst="rect">
            <a:avLst/>
          </a:prstGeom>
          <a:solidFill>
            <a:srgbClr val="FFFFFF"/>
          </a:solidFill>
          <a:ln w="6350">
            <a:solidFill>
              <a:srgbClr val="D5E3E2"/>
            </a:solidFill>
            <a:prstDash val="solid"/>
          </a:ln>
        </p:spPr>
      </p:sp>
      <p:sp>
        <p:nvSpPr>
          <p:cNvPr id="19" name="Text 14"/>
          <p:cNvSpPr txBox="1"/>
          <p:nvPr/>
        </p:nvSpPr>
        <p:spPr>
          <a:xfrm>
            <a:off x="6300216" y="5596128"/>
            <a:ext cx="1371600" cy="658368"/>
          </a:xfrm>
          <a:prstGeom prst="rect">
            <a:avLst/>
          </a:prstGeom>
          <a:noFill/>
          <a:ln/>
        </p:spPr>
        <p:txBody>
          <a:bodyPr wrap="square" lIns="0" tIns="0" rIns="0" bIns="0" rtlCol="0" anchor="ctr"/>
          <a:lstStyle/>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45.29M</a:t>
            </a:r>
            <a:endParaRPr lang="en-US" sz="1200" dirty="0"/>
          </a:p>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Outstanding</a:t>
            </a:r>
            <a:endParaRPr lang="en-US" sz="1200" dirty="0"/>
          </a:p>
        </p:txBody>
      </p:sp>
      <p:sp>
        <p:nvSpPr>
          <p:cNvPr id="20" name="Text 15"/>
          <p:cNvSpPr txBox="1"/>
          <p:nvPr/>
        </p:nvSpPr>
        <p:spPr>
          <a:xfrm>
            <a:off x="7644384" y="5596128"/>
            <a:ext cx="1005840" cy="658368"/>
          </a:xfrm>
          <a:prstGeom prst="rect">
            <a:avLst/>
          </a:prstGeom>
          <a:noFill/>
          <a:ln/>
        </p:spPr>
        <p:txBody>
          <a:bodyPr wrap="square" lIns="0" tIns="0" rIns="0" bIns="0" rtlCol="0" anchor="ctr"/>
          <a:lstStyle/>
          <a:p>
            <a:pPr marL="0" indent="0">
              <a:lnSpc>
                <a:spcPct val="110000"/>
              </a:lnSpc>
              <a:buNone/>
            </a:pPr>
            <a:r>
              <a:rPr lang="en-US" sz="1050" dirty="0">
                <a:solidFill>
                  <a:srgbClr val="2B3D3C"/>
                </a:solidFill>
                <a:latin typeface="Calibri" pitchFamily="34" charset="0"/>
                <a:ea typeface="Calibri" pitchFamily="34" charset="-122"/>
                <a:cs typeface="Calibri" pitchFamily="34" charset="-120"/>
              </a:rPr>
              <a:t>Total balance awaiting collection.</a:t>
            </a:r>
            <a:endParaRPr lang="en-US" sz="1050" dirty="0"/>
          </a:p>
        </p:txBody>
      </p:sp>
      <p:sp>
        <p:nvSpPr>
          <p:cNvPr id="21" name="Shape 16"/>
          <p:cNvSpPr/>
          <p:nvPr/>
        </p:nvSpPr>
        <p:spPr>
          <a:xfrm>
            <a:off x="8951976" y="5596128"/>
            <a:ext cx="2651760" cy="658368"/>
          </a:xfrm>
          <a:prstGeom prst="rect">
            <a:avLst/>
          </a:prstGeom>
          <a:solidFill>
            <a:srgbClr val="FFFFFF"/>
          </a:solidFill>
          <a:ln w="6350">
            <a:solidFill>
              <a:srgbClr val="D5E3E2"/>
            </a:solidFill>
            <a:prstDash val="solid"/>
          </a:ln>
        </p:spPr>
      </p:sp>
      <p:sp>
        <p:nvSpPr>
          <p:cNvPr id="22" name="Text 17"/>
          <p:cNvSpPr txBox="1"/>
          <p:nvPr/>
        </p:nvSpPr>
        <p:spPr>
          <a:xfrm>
            <a:off x="9116568" y="5596128"/>
            <a:ext cx="1371600" cy="658368"/>
          </a:xfrm>
          <a:prstGeom prst="rect">
            <a:avLst/>
          </a:prstGeom>
          <a:noFill/>
          <a:ln/>
        </p:spPr>
        <p:txBody>
          <a:bodyPr wrap="square" lIns="0" tIns="0" rIns="0" bIns="0" rtlCol="0" anchor="ctr"/>
          <a:lstStyle/>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15.78M</a:t>
            </a:r>
            <a:endParaRPr lang="en-US" sz="1200" dirty="0"/>
          </a:p>
          <a:p>
            <a:pPr marL="0" indent="0">
              <a:lnSpc>
                <a:spcPct val="105000"/>
              </a:lnSpc>
              <a:buNone/>
            </a:pPr>
            <a:r>
              <a:rPr lang="en-US" sz="1200" b="1" dirty="0">
                <a:solidFill>
                  <a:srgbClr val="1D3A38"/>
                </a:solidFill>
                <a:latin typeface="Calibri" pitchFamily="34" charset="0"/>
                <a:ea typeface="Calibri" pitchFamily="34" charset="-122"/>
                <a:cs typeface="Calibri" pitchFamily="34" charset="-120"/>
              </a:rPr>
              <a:t>Overdue</a:t>
            </a:r>
            <a:endParaRPr lang="en-US" sz="1200" dirty="0"/>
          </a:p>
        </p:txBody>
      </p:sp>
      <p:sp>
        <p:nvSpPr>
          <p:cNvPr id="23" name="Text 18"/>
          <p:cNvSpPr txBox="1"/>
          <p:nvPr/>
        </p:nvSpPr>
        <p:spPr>
          <a:xfrm>
            <a:off x="10460736" y="5596128"/>
            <a:ext cx="1005840" cy="658368"/>
          </a:xfrm>
          <a:prstGeom prst="rect">
            <a:avLst/>
          </a:prstGeom>
          <a:noFill/>
          <a:ln/>
        </p:spPr>
        <p:txBody>
          <a:bodyPr wrap="square" lIns="0" tIns="0" rIns="0" bIns="0" rtlCol="0" anchor="ctr"/>
          <a:lstStyle/>
          <a:p>
            <a:pPr marL="0" indent="0">
              <a:lnSpc>
                <a:spcPct val="110000"/>
              </a:lnSpc>
              <a:buNone/>
            </a:pPr>
            <a:r>
              <a:rPr lang="en-US" sz="1050" dirty="0">
                <a:solidFill>
                  <a:srgbClr val="2B3D3C"/>
                </a:solidFill>
                <a:latin typeface="Calibri" pitchFamily="34" charset="0"/>
                <a:ea typeface="Calibri" pitchFamily="34" charset="-122"/>
                <a:cs typeface="Calibri" pitchFamily="34" charset="-120"/>
              </a:rPr>
              <a:t>Balance past due date requiring active follow-up.</a:t>
            </a:r>
            <a:endParaRPr lang="en-US" sz="1050" dirty="0"/>
          </a:p>
        </p:txBody>
      </p:sp>
      <p:sp>
        <p:nvSpPr>
          <p:cNvPr id="24" name="Text 19"/>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5</a:t>
            </a:r>
            <a:endParaRPr lang="en-US" sz="850" dirty="0"/>
          </a:p>
        </p:txBody>
      </p:sp>
      <p:pic>
        <p:nvPicPr>
          <p:cNvPr id="25" name="Picture 24"/>
          <p:cNvPicPr>
            <a:picLocks noChangeAspect="1"/>
          </p:cNvPicPr>
          <p:nvPr/>
        </p:nvPicPr>
        <p:blipFill>
          <a:blip r:embed="rId3"/>
          <a:stretch>
            <a:fillRect/>
          </a:stretch>
        </p:blipFill>
        <p:spPr>
          <a:xfrm>
            <a:off x="502921" y="2948026"/>
            <a:ext cx="5577840" cy="2480518"/>
          </a:xfrm>
          <a:prstGeom prst="rect">
            <a:avLst/>
          </a:prstGeom>
        </p:spPr>
      </p:pic>
      <p:pic>
        <p:nvPicPr>
          <p:cNvPr id="26" name="Picture 25"/>
          <p:cNvPicPr>
            <a:picLocks noChangeAspect="1"/>
          </p:cNvPicPr>
          <p:nvPr/>
        </p:nvPicPr>
        <p:blipFill>
          <a:blip r:embed="rId4"/>
          <a:stretch>
            <a:fillRect/>
          </a:stretch>
        </p:blipFill>
        <p:spPr>
          <a:xfrm>
            <a:off x="6096000" y="2904419"/>
            <a:ext cx="5886450" cy="2524125"/>
          </a:xfrm>
          <a:prstGeom prst="rect">
            <a:avLst/>
          </a:prstGeom>
        </p:spPr>
      </p:pic>
      <p:pic>
        <p:nvPicPr>
          <p:cNvPr id="27" name="Picture 26"/>
          <p:cNvPicPr>
            <a:picLocks noChangeAspect="1"/>
          </p:cNvPicPr>
          <p:nvPr/>
        </p:nvPicPr>
        <p:blipFill>
          <a:blip r:embed="rId5"/>
          <a:stretch>
            <a:fillRect/>
          </a:stretch>
        </p:blipFill>
        <p:spPr>
          <a:xfrm>
            <a:off x="457200" y="1830523"/>
            <a:ext cx="11277295" cy="10086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DASHBOARD · PAGE 2</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700" b="1" dirty="0">
                <a:solidFill>
                  <a:srgbClr val="1D3A38"/>
                </a:solidFill>
                <a:latin typeface="Calibri" pitchFamily="34" charset="0"/>
                <a:ea typeface="Calibri" pitchFamily="34" charset="-122"/>
                <a:cs typeface="Calibri" pitchFamily="34" charset="-120"/>
              </a:rPr>
              <a:t>Receivables Risk — knowing who owes what, and how urgently.</a:t>
            </a:r>
            <a:endParaRPr lang="en-US" sz="2700" dirty="0"/>
          </a:p>
        </p:txBody>
      </p:sp>
      <p:sp>
        <p:nvSpPr>
          <p:cNvPr id="5" name="Shape 3"/>
          <p:cNvSpPr/>
          <p:nvPr/>
        </p:nvSpPr>
        <p:spPr>
          <a:xfrm>
            <a:off x="502920" y="1591394"/>
            <a:ext cx="11185855" cy="14630"/>
          </a:xfrm>
          <a:prstGeom prst="rect">
            <a:avLst/>
          </a:prstGeom>
          <a:solidFill>
            <a:srgbClr val="D5E3E2"/>
          </a:solidFill>
          <a:ln/>
        </p:spPr>
      </p:sp>
      <p:sp>
        <p:nvSpPr>
          <p:cNvPr id="14" name="Shape 8"/>
          <p:cNvSpPr/>
          <p:nvPr/>
        </p:nvSpPr>
        <p:spPr>
          <a:xfrm>
            <a:off x="502920" y="3913632"/>
            <a:ext cx="5321808" cy="0"/>
          </a:xfrm>
          <a:prstGeom prst="rect">
            <a:avLst/>
          </a:prstGeom>
          <a:noFill/>
          <a:ln/>
        </p:spPr>
      </p:sp>
      <p:sp>
        <p:nvSpPr>
          <p:cNvPr id="15" name="Text 9"/>
          <p:cNvSpPr txBox="1"/>
          <p:nvPr/>
        </p:nvSpPr>
        <p:spPr>
          <a:xfrm>
            <a:off x="502920" y="6139282"/>
            <a:ext cx="11185855" cy="347472"/>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45.29M outstanding  ·  15.78M overdue (34.8%)  ·  299 customers with 90+ day exposure  ·  8.56M in 90+ day aging bucket</a:t>
            </a:r>
            <a:endParaRPr lang="en-US" sz="1200" dirty="0"/>
          </a:p>
        </p:txBody>
      </p:sp>
      <p:sp>
        <p:nvSpPr>
          <p:cNvPr id="16" name="Text 10"/>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6</a:t>
            </a:r>
            <a:endParaRPr lang="en-US" sz="850" dirty="0"/>
          </a:p>
        </p:txBody>
      </p:sp>
      <p:pic>
        <p:nvPicPr>
          <p:cNvPr id="17" name="Picture 16"/>
          <p:cNvPicPr>
            <a:picLocks noChangeAspect="1"/>
          </p:cNvPicPr>
          <p:nvPr/>
        </p:nvPicPr>
        <p:blipFill>
          <a:blip r:embed="rId3"/>
          <a:stretch>
            <a:fillRect/>
          </a:stretch>
        </p:blipFill>
        <p:spPr>
          <a:xfrm>
            <a:off x="823177" y="1712363"/>
            <a:ext cx="10362459" cy="4401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DASHBOARD · PAGE 3</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600" b="1" dirty="0">
                <a:solidFill>
                  <a:srgbClr val="1D3A38"/>
                </a:solidFill>
                <a:latin typeface="Calibri" pitchFamily="34" charset="0"/>
                <a:ea typeface="Calibri" pitchFamily="34" charset="-122"/>
                <a:cs typeface="Calibri" pitchFamily="34" charset="-120"/>
              </a:rPr>
              <a:t>Payment &amp; Customer Performance — how reliably customers pay.</a:t>
            </a:r>
            <a:endParaRPr lang="en-US" sz="2600" dirty="0"/>
          </a:p>
        </p:txBody>
      </p:sp>
      <p:sp>
        <p:nvSpPr>
          <p:cNvPr id="5" name="Shape 3"/>
          <p:cNvSpPr/>
          <p:nvPr/>
        </p:nvSpPr>
        <p:spPr>
          <a:xfrm>
            <a:off x="502920" y="1468860"/>
            <a:ext cx="11185855" cy="14630"/>
          </a:xfrm>
          <a:prstGeom prst="rect">
            <a:avLst/>
          </a:prstGeom>
          <a:solidFill>
            <a:srgbClr val="D5E3E2"/>
          </a:solidFill>
          <a:ln/>
        </p:spPr>
      </p:sp>
      <p:sp>
        <p:nvSpPr>
          <p:cNvPr id="12" name="Shape 7"/>
          <p:cNvSpPr/>
          <p:nvPr/>
        </p:nvSpPr>
        <p:spPr>
          <a:xfrm>
            <a:off x="502920" y="3877056"/>
            <a:ext cx="2651760" cy="0"/>
          </a:xfrm>
          <a:prstGeom prst="rect">
            <a:avLst/>
          </a:prstGeom>
          <a:noFill/>
          <a:ln/>
        </p:spPr>
      </p:sp>
      <p:sp>
        <p:nvSpPr>
          <p:cNvPr id="13" name="Shape 8"/>
          <p:cNvSpPr/>
          <p:nvPr/>
        </p:nvSpPr>
        <p:spPr>
          <a:xfrm>
            <a:off x="3319272" y="3877056"/>
            <a:ext cx="2651760" cy="0"/>
          </a:xfrm>
          <a:prstGeom prst="rect">
            <a:avLst/>
          </a:prstGeom>
          <a:noFill/>
          <a:ln/>
        </p:spPr>
      </p:sp>
      <p:sp>
        <p:nvSpPr>
          <p:cNvPr id="14" name="Shape 9"/>
          <p:cNvSpPr/>
          <p:nvPr/>
        </p:nvSpPr>
        <p:spPr>
          <a:xfrm>
            <a:off x="6135624" y="3877056"/>
            <a:ext cx="2651760" cy="0"/>
          </a:xfrm>
          <a:prstGeom prst="rect">
            <a:avLst/>
          </a:prstGeom>
          <a:noFill/>
          <a:ln/>
        </p:spPr>
      </p:sp>
      <p:sp>
        <p:nvSpPr>
          <p:cNvPr id="15" name="Shape 10"/>
          <p:cNvSpPr/>
          <p:nvPr/>
        </p:nvSpPr>
        <p:spPr>
          <a:xfrm>
            <a:off x="8951976" y="3877056"/>
            <a:ext cx="2651760" cy="0"/>
          </a:xfrm>
          <a:prstGeom prst="rect">
            <a:avLst/>
          </a:prstGeom>
          <a:noFill/>
          <a:ln/>
        </p:spPr>
      </p:sp>
      <p:sp>
        <p:nvSpPr>
          <p:cNvPr id="16" name="Text 11"/>
          <p:cNvSpPr txBox="1"/>
          <p:nvPr/>
        </p:nvSpPr>
        <p:spPr>
          <a:xfrm>
            <a:off x="502920" y="6108193"/>
            <a:ext cx="11185855" cy="347472"/>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45.8 days avg to payment  ·  64.0% completion rate  ·  Small Business leads on early payment at 37.9%  ·  Enterprise leads on late payment at 38%</a:t>
            </a:r>
            <a:endParaRPr lang="en-US" sz="1200" dirty="0"/>
          </a:p>
        </p:txBody>
      </p:sp>
      <p:sp>
        <p:nvSpPr>
          <p:cNvPr id="17" name="Text 12"/>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7</a:t>
            </a:r>
            <a:endParaRPr lang="en-US" sz="850" dirty="0"/>
          </a:p>
        </p:txBody>
      </p:sp>
      <p:pic>
        <p:nvPicPr>
          <p:cNvPr id="18" name="Picture 17"/>
          <p:cNvPicPr>
            <a:picLocks noChangeAspect="1"/>
          </p:cNvPicPr>
          <p:nvPr/>
        </p:nvPicPr>
        <p:blipFill>
          <a:blip r:embed="rId3"/>
          <a:stretch>
            <a:fillRect/>
          </a:stretch>
        </p:blipFill>
        <p:spPr>
          <a:xfrm>
            <a:off x="497101" y="1564123"/>
            <a:ext cx="10539326" cy="44651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DASHBOARD · PAGE 4</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2700" b="1" dirty="0">
                <a:solidFill>
                  <a:srgbClr val="1D3A38"/>
                </a:solidFill>
                <a:latin typeface="Calibri" pitchFamily="34" charset="0"/>
                <a:ea typeface="Calibri" pitchFamily="34" charset="-122"/>
                <a:cs typeface="Calibri" pitchFamily="34" charset="-120"/>
              </a:rPr>
              <a:t>Pipeline Health — every run tracked, every failure visible.</a:t>
            </a:r>
            <a:endParaRPr lang="en-US" sz="2700" dirty="0"/>
          </a:p>
        </p:txBody>
      </p:sp>
      <p:sp>
        <p:nvSpPr>
          <p:cNvPr id="5" name="Shape 3"/>
          <p:cNvSpPr/>
          <p:nvPr/>
        </p:nvSpPr>
        <p:spPr>
          <a:xfrm>
            <a:off x="502920" y="1709928"/>
            <a:ext cx="11185855" cy="14630"/>
          </a:xfrm>
          <a:prstGeom prst="rect">
            <a:avLst/>
          </a:prstGeom>
          <a:solidFill>
            <a:srgbClr val="D5E3E2"/>
          </a:solidFill>
          <a:ln/>
        </p:spPr>
      </p:sp>
      <p:sp>
        <p:nvSpPr>
          <p:cNvPr id="14" name="Shape 8"/>
          <p:cNvSpPr/>
          <p:nvPr/>
        </p:nvSpPr>
        <p:spPr>
          <a:xfrm>
            <a:off x="502920" y="4498848"/>
            <a:ext cx="2148840" cy="0"/>
          </a:xfrm>
          <a:prstGeom prst="rect">
            <a:avLst/>
          </a:prstGeom>
          <a:noFill/>
          <a:ln/>
        </p:spPr>
      </p:sp>
      <p:sp>
        <p:nvSpPr>
          <p:cNvPr id="15" name="Shape 9"/>
          <p:cNvSpPr/>
          <p:nvPr/>
        </p:nvSpPr>
        <p:spPr>
          <a:xfrm>
            <a:off x="2807208" y="4498848"/>
            <a:ext cx="2148840" cy="0"/>
          </a:xfrm>
          <a:prstGeom prst="rect">
            <a:avLst/>
          </a:prstGeom>
          <a:noFill/>
          <a:ln/>
        </p:spPr>
      </p:sp>
      <p:sp>
        <p:nvSpPr>
          <p:cNvPr id="16" name="Shape 10"/>
          <p:cNvSpPr/>
          <p:nvPr/>
        </p:nvSpPr>
        <p:spPr>
          <a:xfrm>
            <a:off x="5111496" y="4498848"/>
            <a:ext cx="2148840" cy="0"/>
          </a:xfrm>
          <a:prstGeom prst="rect">
            <a:avLst/>
          </a:prstGeom>
          <a:noFill/>
          <a:ln/>
        </p:spPr>
      </p:sp>
      <p:sp>
        <p:nvSpPr>
          <p:cNvPr id="17" name="Shape 11"/>
          <p:cNvSpPr/>
          <p:nvPr/>
        </p:nvSpPr>
        <p:spPr>
          <a:xfrm>
            <a:off x="7415784" y="4498848"/>
            <a:ext cx="2148840" cy="0"/>
          </a:xfrm>
          <a:prstGeom prst="rect">
            <a:avLst/>
          </a:prstGeom>
          <a:noFill/>
          <a:ln/>
        </p:spPr>
      </p:sp>
      <p:sp>
        <p:nvSpPr>
          <p:cNvPr id="18" name="Shape 12"/>
          <p:cNvSpPr/>
          <p:nvPr/>
        </p:nvSpPr>
        <p:spPr>
          <a:xfrm>
            <a:off x="9720072" y="4498848"/>
            <a:ext cx="2148840" cy="0"/>
          </a:xfrm>
          <a:prstGeom prst="rect">
            <a:avLst/>
          </a:prstGeom>
          <a:noFill/>
          <a:ln/>
        </p:spPr>
      </p:sp>
      <p:sp>
        <p:nvSpPr>
          <p:cNvPr id="19" name="Text 13"/>
          <p:cNvSpPr txBox="1"/>
          <p:nvPr/>
        </p:nvSpPr>
        <p:spPr>
          <a:xfrm>
            <a:off x="502920" y="7150608"/>
            <a:ext cx="11185855" cy="347472"/>
          </a:xfrm>
          <a:prstGeom prst="rect">
            <a:avLst/>
          </a:prstGeom>
          <a:noFill/>
          <a:ln/>
        </p:spPr>
        <p:txBody>
          <a:bodyPr wrap="square" lIns="0" tIns="0" rIns="0" bIns="0" rtlCol="0" anchor="ctr"/>
          <a:lstStyle/>
          <a:p>
            <a:pPr marL="0" indent="0">
              <a:buNone/>
            </a:pPr>
            <a:r>
              <a:rPr lang="en-US" sz="1200" b="1" dirty="0">
                <a:solidFill>
                  <a:srgbClr val="1D3A38"/>
                </a:solidFill>
                <a:latin typeface="Calibri" pitchFamily="34" charset="0"/>
                <a:ea typeface="Calibri" pitchFamily="34" charset="-122"/>
                <a:cs typeface="Calibri" pitchFamily="34" charset="-120"/>
              </a:rPr>
              <a:t>43 files processed  ·  29 successful  ·  8 failed  ·  80.26% load success rate  ·  31K records loaded  ·  Exception watchlist for failed and skipped files</a:t>
            </a:r>
            <a:endParaRPr lang="en-US" sz="1200" dirty="0"/>
          </a:p>
        </p:txBody>
      </p:sp>
      <p:sp>
        <p:nvSpPr>
          <p:cNvPr id="20" name="Text 14"/>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8</a:t>
            </a:r>
            <a:endParaRPr lang="en-US" sz="850" dirty="0"/>
          </a:p>
        </p:txBody>
      </p:sp>
      <p:pic>
        <p:nvPicPr>
          <p:cNvPr id="21" name="Picture 20"/>
          <p:cNvPicPr>
            <a:picLocks noChangeAspect="1"/>
          </p:cNvPicPr>
          <p:nvPr/>
        </p:nvPicPr>
        <p:blipFill>
          <a:blip r:embed="rId3"/>
          <a:stretch>
            <a:fillRect/>
          </a:stretch>
        </p:blipFill>
        <p:spPr>
          <a:xfrm>
            <a:off x="502919" y="1868828"/>
            <a:ext cx="11185855" cy="44441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2F8F8B"/>
          </a:solidFill>
          <a:ln/>
        </p:spPr>
      </p:sp>
      <p:sp>
        <p:nvSpPr>
          <p:cNvPr id="3" name="Text 1"/>
          <p:cNvSpPr txBox="1"/>
          <p:nvPr/>
        </p:nvSpPr>
        <p:spPr>
          <a:xfrm>
            <a:off x="502920" y="384048"/>
            <a:ext cx="11185855" cy="237744"/>
          </a:xfrm>
          <a:prstGeom prst="rect">
            <a:avLst/>
          </a:prstGeom>
          <a:noFill/>
          <a:ln/>
        </p:spPr>
        <p:txBody>
          <a:bodyPr wrap="square" lIns="0" tIns="0" rIns="0" bIns="0" rtlCol="0" anchor="ctr"/>
          <a:lstStyle/>
          <a:p>
            <a:pPr marL="0" indent="0">
              <a:buNone/>
            </a:pPr>
            <a:r>
              <a:rPr lang="en-US" sz="950" b="1" kern="0" spc="250" dirty="0">
                <a:solidFill>
                  <a:srgbClr val="2F8F8B"/>
                </a:solidFill>
                <a:latin typeface="Calibri" pitchFamily="34" charset="0"/>
                <a:ea typeface="Calibri" pitchFamily="34" charset="-122"/>
                <a:cs typeface="Calibri" pitchFamily="34" charset="-120"/>
              </a:rPr>
              <a:t>TECHNOLOGY</a:t>
            </a:r>
            <a:endParaRPr lang="en-US" sz="950" dirty="0"/>
          </a:p>
        </p:txBody>
      </p:sp>
      <p:sp>
        <p:nvSpPr>
          <p:cNvPr id="4" name="Text 2"/>
          <p:cNvSpPr txBox="1"/>
          <p:nvPr/>
        </p:nvSpPr>
        <p:spPr>
          <a:xfrm>
            <a:off x="502920" y="685800"/>
            <a:ext cx="11002975" cy="960120"/>
          </a:xfrm>
          <a:prstGeom prst="rect">
            <a:avLst/>
          </a:prstGeom>
          <a:noFill/>
          <a:ln/>
        </p:spPr>
        <p:txBody>
          <a:bodyPr wrap="square" lIns="0" tIns="0" rIns="0" bIns="0" rtlCol="0" anchor="t"/>
          <a:lstStyle/>
          <a:p>
            <a:pPr marL="0" indent="0">
              <a:lnSpc>
                <a:spcPct val="100000"/>
              </a:lnSpc>
              <a:buNone/>
            </a:pPr>
            <a:r>
              <a:rPr lang="en-US" sz="3000" b="1" dirty="0">
                <a:solidFill>
                  <a:srgbClr val="1D3A38"/>
                </a:solidFill>
                <a:latin typeface="Calibri" pitchFamily="34" charset="0"/>
                <a:ea typeface="Calibri" pitchFamily="34" charset="-122"/>
                <a:cs typeface="Calibri" pitchFamily="34" charset="-120"/>
              </a:rPr>
              <a:t>The stack behind the pipeline.</a:t>
            </a:r>
            <a:endParaRPr lang="en-US" sz="3000" dirty="0"/>
          </a:p>
        </p:txBody>
      </p:sp>
      <p:sp>
        <p:nvSpPr>
          <p:cNvPr id="5" name="Shape 3"/>
          <p:cNvSpPr/>
          <p:nvPr/>
        </p:nvSpPr>
        <p:spPr>
          <a:xfrm>
            <a:off x="502920" y="1709928"/>
            <a:ext cx="11185855" cy="14630"/>
          </a:xfrm>
          <a:prstGeom prst="rect">
            <a:avLst/>
          </a:prstGeom>
          <a:solidFill>
            <a:srgbClr val="D5E3E2"/>
          </a:solidFill>
          <a:ln/>
        </p:spPr>
      </p:sp>
      <p:sp>
        <p:nvSpPr>
          <p:cNvPr id="6" name="Shape 4"/>
          <p:cNvSpPr/>
          <p:nvPr/>
        </p:nvSpPr>
        <p:spPr>
          <a:xfrm>
            <a:off x="502920" y="1920240"/>
            <a:ext cx="2633472" cy="1920240"/>
          </a:xfrm>
          <a:prstGeom prst="rect">
            <a:avLst/>
          </a:prstGeom>
          <a:solidFill>
            <a:srgbClr val="FFFFFF"/>
          </a:solidFill>
          <a:ln w="6350">
            <a:solidFill>
              <a:srgbClr val="D5E3E2"/>
            </a:solidFill>
            <a:prstDash val="solid"/>
          </a:ln>
        </p:spPr>
      </p:sp>
      <p:sp>
        <p:nvSpPr>
          <p:cNvPr id="7" name="Shape 5"/>
          <p:cNvSpPr/>
          <p:nvPr/>
        </p:nvSpPr>
        <p:spPr>
          <a:xfrm>
            <a:off x="502920" y="1920240"/>
            <a:ext cx="2633472" cy="41148"/>
          </a:xfrm>
          <a:prstGeom prst="rect">
            <a:avLst/>
          </a:prstGeom>
          <a:solidFill>
            <a:srgbClr val="1D3A38"/>
          </a:solidFill>
          <a:ln/>
        </p:spPr>
      </p:sp>
      <p:sp>
        <p:nvSpPr>
          <p:cNvPr id="8" name="Shape 6"/>
          <p:cNvSpPr/>
          <p:nvPr/>
        </p:nvSpPr>
        <p:spPr>
          <a:xfrm>
            <a:off x="2240280" y="2048256"/>
            <a:ext cx="804672" cy="228600"/>
          </a:xfrm>
          <a:prstGeom prst="roundRect">
            <a:avLst>
              <a:gd name="adj" fmla="val 16000"/>
            </a:avLst>
          </a:prstGeom>
          <a:solidFill>
            <a:srgbClr val="1D3A38"/>
          </a:solidFill>
          <a:ln/>
        </p:spPr>
      </p:sp>
      <p:sp>
        <p:nvSpPr>
          <p:cNvPr id="9" name="Text 7"/>
          <p:cNvSpPr txBox="1"/>
          <p:nvPr/>
        </p:nvSpPr>
        <p:spPr>
          <a:xfrm>
            <a:off x="2240280" y="204825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PIPELINE</a:t>
            </a:r>
            <a:endParaRPr lang="en-US" sz="750" dirty="0"/>
          </a:p>
        </p:txBody>
      </p:sp>
      <p:sp>
        <p:nvSpPr>
          <p:cNvPr id="10" name="Text 8"/>
          <p:cNvSpPr txBox="1"/>
          <p:nvPr/>
        </p:nvSpPr>
        <p:spPr>
          <a:xfrm>
            <a:off x="667512" y="212140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Python</a:t>
            </a:r>
            <a:endParaRPr lang="en-US" sz="1500" dirty="0"/>
          </a:p>
        </p:txBody>
      </p:sp>
      <p:sp>
        <p:nvSpPr>
          <p:cNvPr id="11" name="Text 9"/>
          <p:cNvSpPr txBox="1"/>
          <p:nvPr/>
        </p:nvSpPr>
        <p:spPr>
          <a:xfrm>
            <a:off x="667512" y="256032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Core ETL pipeline — file detection, validation, transformation, hashing, database loading.</a:t>
            </a:r>
            <a:endParaRPr lang="en-US" sz="1100" dirty="0"/>
          </a:p>
        </p:txBody>
      </p:sp>
      <p:sp>
        <p:nvSpPr>
          <p:cNvPr id="12" name="Shape 10"/>
          <p:cNvSpPr/>
          <p:nvPr/>
        </p:nvSpPr>
        <p:spPr>
          <a:xfrm>
            <a:off x="3319272" y="1920240"/>
            <a:ext cx="2633472" cy="1920240"/>
          </a:xfrm>
          <a:prstGeom prst="rect">
            <a:avLst/>
          </a:prstGeom>
          <a:solidFill>
            <a:srgbClr val="FFFFFF"/>
          </a:solidFill>
          <a:ln w="6350">
            <a:solidFill>
              <a:srgbClr val="D5E3E2"/>
            </a:solidFill>
            <a:prstDash val="solid"/>
          </a:ln>
        </p:spPr>
      </p:sp>
      <p:sp>
        <p:nvSpPr>
          <p:cNvPr id="13" name="Shape 11"/>
          <p:cNvSpPr/>
          <p:nvPr/>
        </p:nvSpPr>
        <p:spPr>
          <a:xfrm>
            <a:off x="3319272" y="1920240"/>
            <a:ext cx="2633472" cy="41148"/>
          </a:xfrm>
          <a:prstGeom prst="rect">
            <a:avLst/>
          </a:prstGeom>
          <a:solidFill>
            <a:srgbClr val="1D3A38"/>
          </a:solidFill>
          <a:ln/>
        </p:spPr>
      </p:sp>
      <p:sp>
        <p:nvSpPr>
          <p:cNvPr id="14" name="Shape 12"/>
          <p:cNvSpPr/>
          <p:nvPr/>
        </p:nvSpPr>
        <p:spPr>
          <a:xfrm>
            <a:off x="5056632" y="2048256"/>
            <a:ext cx="804672" cy="228600"/>
          </a:xfrm>
          <a:prstGeom prst="roundRect">
            <a:avLst>
              <a:gd name="adj" fmla="val 16000"/>
            </a:avLst>
          </a:prstGeom>
          <a:solidFill>
            <a:srgbClr val="1D3A38"/>
          </a:solidFill>
          <a:ln/>
        </p:spPr>
      </p:sp>
      <p:sp>
        <p:nvSpPr>
          <p:cNvPr id="15" name="Text 13"/>
          <p:cNvSpPr txBox="1"/>
          <p:nvPr/>
        </p:nvSpPr>
        <p:spPr>
          <a:xfrm>
            <a:off x="5056632" y="204825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PIPELINE</a:t>
            </a:r>
            <a:endParaRPr lang="en-US" sz="750" dirty="0"/>
          </a:p>
        </p:txBody>
      </p:sp>
      <p:sp>
        <p:nvSpPr>
          <p:cNvPr id="16" name="Text 14"/>
          <p:cNvSpPr txBox="1"/>
          <p:nvPr/>
        </p:nvSpPr>
        <p:spPr>
          <a:xfrm>
            <a:off x="3483864" y="212140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pandas</a:t>
            </a:r>
            <a:endParaRPr lang="en-US" sz="1500" dirty="0"/>
          </a:p>
        </p:txBody>
      </p:sp>
      <p:sp>
        <p:nvSpPr>
          <p:cNvPr id="17" name="Text 15"/>
          <p:cNvSpPr txBox="1"/>
          <p:nvPr/>
        </p:nvSpPr>
        <p:spPr>
          <a:xfrm>
            <a:off x="3483864" y="256032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CSV processing, column validation, data type checking, and transformation logic.</a:t>
            </a:r>
            <a:endParaRPr lang="en-US" sz="1100" dirty="0"/>
          </a:p>
        </p:txBody>
      </p:sp>
      <p:sp>
        <p:nvSpPr>
          <p:cNvPr id="18" name="Shape 16"/>
          <p:cNvSpPr/>
          <p:nvPr/>
        </p:nvSpPr>
        <p:spPr>
          <a:xfrm>
            <a:off x="6135624" y="1920240"/>
            <a:ext cx="2633472" cy="1920240"/>
          </a:xfrm>
          <a:prstGeom prst="rect">
            <a:avLst/>
          </a:prstGeom>
          <a:solidFill>
            <a:srgbClr val="FFFFFF"/>
          </a:solidFill>
          <a:ln w="6350">
            <a:solidFill>
              <a:srgbClr val="D5E3E2"/>
            </a:solidFill>
            <a:prstDash val="solid"/>
          </a:ln>
        </p:spPr>
      </p:sp>
      <p:sp>
        <p:nvSpPr>
          <p:cNvPr id="19" name="Shape 17"/>
          <p:cNvSpPr/>
          <p:nvPr/>
        </p:nvSpPr>
        <p:spPr>
          <a:xfrm>
            <a:off x="6135624" y="1920240"/>
            <a:ext cx="2633472" cy="41148"/>
          </a:xfrm>
          <a:prstGeom prst="rect">
            <a:avLst/>
          </a:prstGeom>
          <a:solidFill>
            <a:srgbClr val="2F8F8B"/>
          </a:solidFill>
          <a:ln/>
        </p:spPr>
      </p:sp>
      <p:sp>
        <p:nvSpPr>
          <p:cNvPr id="20" name="Shape 18"/>
          <p:cNvSpPr/>
          <p:nvPr/>
        </p:nvSpPr>
        <p:spPr>
          <a:xfrm>
            <a:off x="7872984" y="2048256"/>
            <a:ext cx="804672" cy="228600"/>
          </a:xfrm>
          <a:prstGeom prst="roundRect">
            <a:avLst>
              <a:gd name="adj" fmla="val 16000"/>
            </a:avLst>
          </a:prstGeom>
          <a:solidFill>
            <a:srgbClr val="2F8F8B"/>
          </a:solidFill>
          <a:ln/>
        </p:spPr>
      </p:sp>
      <p:sp>
        <p:nvSpPr>
          <p:cNvPr id="21" name="Text 19"/>
          <p:cNvSpPr txBox="1"/>
          <p:nvPr/>
        </p:nvSpPr>
        <p:spPr>
          <a:xfrm>
            <a:off x="7872984" y="204825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DATABASE</a:t>
            </a:r>
            <a:endParaRPr lang="en-US" sz="750" dirty="0"/>
          </a:p>
        </p:txBody>
      </p:sp>
      <p:sp>
        <p:nvSpPr>
          <p:cNvPr id="22" name="Text 20"/>
          <p:cNvSpPr txBox="1"/>
          <p:nvPr/>
        </p:nvSpPr>
        <p:spPr>
          <a:xfrm>
            <a:off x="6300216" y="212140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PostgreSQL</a:t>
            </a:r>
            <a:endParaRPr lang="en-US" sz="1500" dirty="0"/>
          </a:p>
        </p:txBody>
      </p:sp>
      <p:sp>
        <p:nvSpPr>
          <p:cNvPr id="23" name="Text 21"/>
          <p:cNvSpPr txBox="1"/>
          <p:nvPr/>
        </p:nvSpPr>
        <p:spPr>
          <a:xfrm>
            <a:off x="6300216" y="256032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Historical data storage across customers, invoices, payments, and processing history.</a:t>
            </a:r>
            <a:endParaRPr lang="en-US" sz="1100" dirty="0"/>
          </a:p>
        </p:txBody>
      </p:sp>
      <p:sp>
        <p:nvSpPr>
          <p:cNvPr id="24" name="Shape 22"/>
          <p:cNvSpPr/>
          <p:nvPr/>
        </p:nvSpPr>
        <p:spPr>
          <a:xfrm>
            <a:off x="8951976" y="1920240"/>
            <a:ext cx="2633472" cy="1920240"/>
          </a:xfrm>
          <a:prstGeom prst="rect">
            <a:avLst/>
          </a:prstGeom>
          <a:solidFill>
            <a:srgbClr val="FFFFFF"/>
          </a:solidFill>
          <a:ln w="6350">
            <a:solidFill>
              <a:srgbClr val="D5E3E2"/>
            </a:solidFill>
            <a:prstDash val="solid"/>
          </a:ln>
        </p:spPr>
      </p:sp>
      <p:sp>
        <p:nvSpPr>
          <p:cNvPr id="25" name="Shape 23"/>
          <p:cNvSpPr/>
          <p:nvPr/>
        </p:nvSpPr>
        <p:spPr>
          <a:xfrm>
            <a:off x="8951976" y="1920240"/>
            <a:ext cx="2633472" cy="41148"/>
          </a:xfrm>
          <a:prstGeom prst="rect">
            <a:avLst/>
          </a:prstGeom>
          <a:solidFill>
            <a:srgbClr val="2F8F8B"/>
          </a:solidFill>
          <a:ln/>
        </p:spPr>
      </p:sp>
      <p:sp>
        <p:nvSpPr>
          <p:cNvPr id="26" name="Shape 24"/>
          <p:cNvSpPr/>
          <p:nvPr/>
        </p:nvSpPr>
        <p:spPr>
          <a:xfrm>
            <a:off x="10689336" y="2048256"/>
            <a:ext cx="804672" cy="228600"/>
          </a:xfrm>
          <a:prstGeom prst="roundRect">
            <a:avLst>
              <a:gd name="adj" fmla="val 16000"/>
            </a:avLst>
          </a:prstGeom>
          <a:solidFill>
            <a:srgbClr val="2F8F8B"/>
          </a:solidFill>
          <a:ln/>
        </p:spPr>
      </p:sp>
      <p:sp>
        <p:nvSpPr>
          <p:cNvPr id="27" name="Text 25"/>
          <p:cNvSpPr txBox="1"/>
          <p:nvPr/>
        </p:nvSpPr>
        <p:spPr>
          <a:xfrm>
            <a:off x="10689336" y="204825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DATABASE</a:t>
            </a:r>
            <a:endParaRPr lang="en-US" sz="750" dirty="0"/>
          </a:p>
        </p:txBody>
      </p:sp>
      <p:sp>
        <p:nvSpPr>
          <p:cNvPr id="28" name="Text 26"/>
          <p:cNvSpPr txBox="1"/>
          <p:nvPr/>
        </p:nvSpPr>
        <p:spPr>
          <a:xfrm>
            <a:off x="9116568" y="212140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SQLAlchemy</a:t>
            </a:r>
            <a:endParaRPr lang="en-US" sz="1500" dirty="0"/>
          </a:p>
        </p:txBody>
      </p:sp>
      <p:sp>
        <p:nvSpPr>
          <p:cNvPr id="29" name="Text 27"/>
          <p:cNvSpPr txBox="1"/>
          <p:nvPr/>
        </p:nvSpPr>
        <p:spPr>
          <a:xfrm>
            <a:off x="9116568" y="256032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Database connection management and transactional data loading.</a:t>
            </a:r>
            <a:endParaRPr lang="en-US" sz="1100" dirty="0"/>
          </a:p>
        </p:txBody>
      </p:sp>
      <p:sp>
        <p:nvSpPr>
          <p:cNvPr id="30" name="Shape 28"/>
          <p:cNvSpPr/>
          <p:nvPr/>
        </p:nvSpPr>
        <p:spPr>
          <a:xfrm>
            <a:off x="502920" y="4023360"/>
            <a:ext cx="2633472" cy="1920240"/>
          </a:xfrm>
          <a:prstGeom prst="rect">
            <a:avLst/>
          </a:prstGeom>
          <a:solidFill>
            <a:srgbClr val="FFFFFF"/>
          </a:solidFill>
          <a:ln w="6350">
            <a:solidFill>
              <a:srgbClr val="D5E3E2"/>
            </a:solidFill>
            <a:prstDash val="solid"/>
          </a:ln>
        </p:spPr>
      </p:sp>
      <p:sp>
        <p:nvSpPr>
          <p:cNvPr id="31" name="Shape 29"/>
          <p:cNvSpPr/>
          <p:nvPr/>
        </p:nvSpPr>
        <p:spPr>
          <a:xfrm>
            <a:off x="502920" y="4023360"/>
            <a:ext cx="2633472" cy="41148"/>
          </a:xfrm>
          <a:prstGeom prst="rect">
            <a:avLst/>
          </a:prstGeom>
          <a:solidFill>
            <a:srgbClr val="47908C"/>
          </a:solidFill>
          <a:ln/>
        </p:spPr>
      </p:sp>
      <p:sp>
        <p:nvSpPr>
          <p:cNvPr id="32" name="Shape 30"/>
          <p:cNvSpPr/>
          <p:nvPr/>
        </p:nvSpPr>
        <p:spPr>
          <a:xfrm>
            <a:off x="2240280" y="4151376"/>
            <a:ext cx="804672" cy="228600"/>
          </a:xfrm>
          <a:prstGeom prst="roundRect">
            <a:avLst>
              <a:gd name="adj" fmla="val 16000"/>
            </a:avLst>
          </a:prstGeom>
          <a:solidFill>
            <a:srgbClr val="47908C"/>
          </a:solidFill>
          <a:ln/>
        </p:spPr>
      </p:sp>
      <p:sp>
        <p:nvSpPr>
          <p:cNvPr id="33" name="Text 31"/>
          <p:cNvSpPr txBox="1"/>
          <p:nvPr/>
        </p:nvSpPr>
        <p:spPr>
          <a:xfrm>
            <a:off x="2240280" y="415137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REPORTING</a:t>
            </a:r>
            <a:endParaRPr lang="en-US" sz="750" dirty="0"/>
          </a:p>
        </p:txBody>
      </p:sp>
      <p:sp>
        <p:nvSpPr>
          <p:cNvPr id="34" name="Text 32"/>
          <p:cNvSpPr txBox="1"/>
          <p:nvPr/>
        </p:nvSpPr>
        <p:spPr>
          <a:xfrm>
            <a:off x="667512" y="422452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SQL Views</a:t>
            </a:r>
            <a:endParaRPr lang="en-US" sz="1500" dirty="0"/>
          </a:p>
        </p:txBody>
      </p:sp>
      <p:sp>
        <p:nvSpPr>
          <p:cNvPr id="35" name="Text 33"/>
          <p:cNvSpPr txBox="1"/>
          <p:nvPr/>
        </p:nvSpPr>
        <p:spPr>
          <a:xfrm>
            <a:off x="667512" y="466344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Six reporting views expose curated, analytics-ready datasets for Power BI.</a:t>
            </a:r>
            <a:endParaRPr lang="en-US" sz="1100" dirty="0"/>
          </a:p>
        </p:txBody>
      </p:sp>
      <p:sp>
        <p:nvSpPr>
          <p:cNvPr id="36" name="Shape 34"/>
          <p:cNvSpPr/>
          <p:nvPr/>
        </p:nvSpPr>
        <p:spPr>
          <a:xfrm>
            <a:off x="3319272" y="4023360"/>
            <a:ext cx="2633472" cy="1920240"/>
          </a:xfrm>
          <a:prstGeom prst="rect">
            <a:avLst/>
          </a:prstGeom>
          <a:solidFill>
            <a:srgbClr val="FFFFFF"/>
          </a:solidFill>
          <a:ln w="6350">
            <a:solidFill>
              <a:srgbClr val="D5E3E2"/>
            </a:solidFill>
            <a:prstDash val="solid"/>
          </a:ln>
        </p:spPr>
      </p:sp>
      <p:sp>
        <p:nvSpPr>
          <p:cNvPr id="37" name="Shape 35"/>
          <p:cNvSpPr/>
          <p:nvPr/>
        </p:nvSpPr>
        <p:spPr>
          <a:xfrm>
            <a:off x="3319272" y="4023360"/>
            <a:ext cx="2633472" cy="41148"/>
          </a:xfrm>
          <a:prstGeom prst="rect">
            <a:avLst/>
          </a:prstGeom>
          <a:solidFill>
            <a:srgbClr val="A2C5C3"/>
          </a:solidFill>
          <a:ln/>
        </p:spPr>
      </p:sp>
      <p:sp>
        <p:nvSpPr>
          <p:cNvPr id="38" name="Shape 36"/>
          <p:cNvSpPr/>
          <p:nvPr/>
        </p:nvSpPr>
        <p:spPr>
          <a:xfrm>
            <a:off x="5056632" y="4151376"/>
            <a:ext cx="804672" cy="228600"/>
          </a:xfrm>
          <a:prstGeom prst="roundRect">
            <a:avLst>
              <a:gd name="adj" fmla="val 16000"/>
            </a:avLst>
          </a:prstGeom>
          <a:solidFill>
            <a:srgbClr val="A2C5C3"/>
          </a:solidFill>
          <a:ln/>
        </p:spPr>
      </p:sp>
      <p:sp>
        <p:nvSpPr>
          <p:cNvPr id="39" name="Text 37"/>
          <p:cNvSpPr txBox="1"/>
          <p:nvPr/>
        </p:nvSpPr>
        <p:spPr>
          <a:xfrm>
            <a:off x="5056632" y="4151376"/>
            <a:ext cx="804672" cy="228600"/>
          </a:xfrm>
          <a:prstGeom prst="rect">
            <a:avLst/>
          </a:prstGeom>
          <a:noFill/>
          <a:ln/>
        </p:spPr>
        <p:txBody>
          <a:bodyPr wrap="square" lIns="0" tIns="0" rIns="0" bIns="0" rtlCol="0" anchor="ctr"/>
          <a:lstStyle/>
          <a:p>
            <a:pPr marL="0" indent="0" algn="ctr">
              <a:buNone/>
            </a:pPr>
            <a:r>
              <a:rPr lang="en-US" sz="750" b="1" kern="0" spc="80" dirty="0">
                <a:solidFill>
                  <a:srgbClr val="1D3A38"/>
                </a:solidFill>
                <a:latin typeface="Calibri" pitchFamily="34" charset="0"/>
                <a:ea typeface="Calibri" pitchFamily="34" charset="-122"/>
                <a:cs typeface="Calibri" pitchFamily="34" charset="-120"/>
              </a:rPr>
              <a:t>ANALYTICS</a:t>
            </a:r>
            <a:endParaRPr lang="en-US" sz="750" dirty="0"/>
          </a:p>
        </p:txBody>
      </p:sp>
      <p:sp>
        <p:nvSpPr>
          <p:cNvPr id="40" name="Text 38"/>
          <p:cNvSpPr txBox="1"/>
          <p:nvPr/>
        </p:nvSpPr>
        <p:spPr>
          <a:xfrm>
            <a:off x="3483864" y="422452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Power BI</a:t>
            </a:r>
            <a:endParaRPr lang="en-US" sz="1500" dirty="0"/>
          </a:p>
        </p:txBody>
      </p:sp>
      <p:sp>
        <p:nvSpPr>
          <p:cNvPr id="41" name="Text 39"/>
          <p:cNvSpPr txBox="1"/>
          <p:nvPr/>
        </p:nvSpPr>
        <p:spPr>
          <a:xfrm>
            <a:off x="3483864" y="466344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Four-page finance analytics and pipeline health monitoring dashboard.</a:t>
            </a:r>
            <a:endParaRPr lang="en-US" sz="1100" dirty="0"/>
          </a:p>
        </p:txBody>
      </p:sp>
      <p:sp>
        <p:nvSpPr>
          <p:cNvPr id="42" name="Shape 40"/>
          <p:cNvSpPr/>
          <p:nvPr/>
        </p:nvSpPr>
        <p:spPr>
          <a:xfrm>
            <a:off x="6135624" y="4023360"/>
            <a:ext cx="2633472" cy="1920240"/>
          </a:xfrm>
          <a:prstGeom prst="rect">
            <a:avLst/>
          </a:prstGeom>
          <a:solidFill>
            <a:srgbClr val="FFFFFF"/>
          </a:solidFill>
          <a:ln w="6350">
            <a:solidFill>
              <a:srgbClr val="D5E3E2"/>
            </a:solidFill>
            <a:prstDash val="solid"/>
          </a:ln>
        </p:spPr>
      </p:sp>
      <p:sp>
        <p:nvSpPr>
          <p:cNvPr id="43" name="Shape 41"/>
          <p:cNvSpPr/>
          <p:nvPr/>
        </p:nvSpPr>
        <p:spPr>
          <a:xfrm>
            <a:off x="6135624" y="4023360"/>
            <a:ext cx="2633472" cy="41148"/>
          </a:xfrm>
          <a:prstGeom prst="rect">
            <a:avLst/>
          </a:prstGeom>
          <a:solidFill>
            <a:srgbClr val="345E5C"/>
          </a:solidFill>
          <a:ln/>
        </p:spPr>
      </p:sp>
      <p:sp>
        <p:nvSpPr>
          <p:cNvPr id="44" name="Shape 42"/>
          <p:cNvSpPr/>
          <p:nvPr/>
        </p:nvSpPr>
        <p:spPr>
          <a:xfrm>
            <a:off x="7872984" y="4151376"/>
            <a:ext cx="804672" cy="228600"/>
          </a:xfrm>
          <a:prstGeom prst="roundRect">
            <a:avLst>
              <a:gd name="adj" fmla="val 16000"/>
            </a:avLst>
          </a:prstGeom>
          <a:solidFill>
            <a:srgbClr val="345E5C"/>
          </a:solidFill>
          <a:ln/>
        </p:spPr>
      </p:sp>
      <p:sp>
        <p:nvSpPr>
          <p:cNvPr id="45" name="Text 43"/>
          <p:cNvSpPr txBox="1"/>
          <p:nvPr/>
        </p:nvSpPr>
        <p:spPr>
          <a:xfrm>
            <a:off x="7872984" y="415137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AUTOMATION</a:t>
            </a:r>
            <a:endParaRPr lang="en-US" sz="750" dirty="0"/>
          </a:p>
        </p:txBody>
      </p:sp>
      <p:sp>
        <p:nvSpPr>
          <p:cNvPr id="46" name="Text 44"/>
          <p:cNvSpPr txBox="1"/>
          <p:nvPr/>
        </p:nvSpPr>
        <p:spPr>
          <a:xfrm>
            <a:off x="6300216" y="422452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Task Scheduler</a:t>
            </a:r>
            <a:endParaRPr lang="en-US" sz="1500" dirty="0"/>
          </a:p>
        </p:txBody>
      </p:sp>
      <p:sp>
        <p:nvSpPr>
          <p:cNvPr id="47" name="Text 45"/>
          <p:cNvSpPr txBox="1"/>
          <p:nvPr/>
        </p:nvSpPr>
        <p:spPr>
          <a:xfrm>
            <a:off x="6300216" y="466344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Triggers the pipeline every 15 minutes — no human action required.</a:t>
            </a:r>
            <a:endParaRPr lang="en-US" sz="1100" dirty="0"/>
          </a:p>
        </p:txBody>
      </p:sp>
      <p:sp>
        <p:nvSpPr>
          <p:cNvPr id="48" name="Shape 46"/>
          <p:cNvSpPr/>
          <p:nvPr/>
        </p:nvSpPr>
        <p:spPr>
          <a:xfrm>
            <a:off x="8951976" y="4023360"/>
            <a:ext cx="2633472" cy="1920240"/>
          </a:xfrm>
          <a:prstGeom prst="rect">
            <a:avLst/>
          </a:prstGeom>
          <a:solidFill>
            <a:srgbClr val="FFFFFF"/>
          </a:solidFill>
          <a:ln w="6350">
            <a:solidFill>
              <a:srgbClr val="D5E3E2"/>
            </a:solidFill>
            <a:prstDash val="solid"/>
          </a:ln>
        </p:spPr>
      </p:sp>
      <p:sp>
        <p:nvSpPr>
          <p:cNvPr id="49" name="Shape 47"/>
          <p:cNvSpPr/>
          <p:nvPr/>
        </p:nvSpPr>
        <p:spPr>
          <a:xfrm>
            <a:off x="8951976" y="4023360"/>
            <a:ext cx="2633472" cy="41148"/>
          </a:xfrm>
          <a:prstGeom prst="rect">
            <a:avLst/>
          </a:prstGeom>
          <a:solidFill>
            <a:srgbClr val="1D3A38"/>
          </a:solidFill>
          <a:ln/>
        </p:spPr>
      </p:sp>
      <p:sp>
        <p:nvSpPr>
          <p:cNvPr id="50" name="Shape 48"/>
          <p:cNvSpPr/>
          <p:nvPr/>
        </p:nvSpPr>
        <p:spPr>
          <a:xfrm>
            <a:off x="10689336" y="4151376"/>
            <a:ext cx="804672" cy="228600"/>
          </a:xfrm>
          <a:prstGeom prst="roundRect">
            <a:avLst>
              <a:gd name="adj" fmla="val 16000"/>
            </a:avLst>
          </a:prstGeom>
          <a:solidFill>
            <a:srgbClr val="1D3A38"/>
          </a:solidFill>
          <a:ln/>
        </p:spPr>
      </p:sp>
      <p:sp>
        <p:nvSpPr>
          <p:cNvPr id="51" name="Text 49"/>
          <p:cNvSpPr txBox="1"/>
          <p:nvPr/>
        </p:nvSpPr>
        <p:spPr>
          <a:xfrm>
            <a:off x="10689336" y="4151376"/>
            <a:ext cx="804672" cy="228600"/>
          </a:xfrm>
          <a:prstGeom prst="rect">
            <a:avLst/>
          </a:prstGeom>
          <a:noFill/>
          <a:ln/>
        </p:spPr>
        <p:txBody>
          <a:bodyPr wrap="square" lIns="0" tIns="0" rIns="0" bIns="0"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PIPELINE</a:t>
            </a:r>
            <a:endParaRPr lang="en-US" sz="750" dirty="0"/>
          </a:p>
        </p:txBody>
      </p:sp>
      <p:sp>
        <p:nvSpPr>
          <p:cNvPr id="52" name="Text 50"/>
          <p:cNvSpPr txBox="1"/>
          <p:nvPr/>
        </p:nvSpPr>
        <p:spPr>
          <a:xfrm>
            <a:off x="9116568" y="4224528"/>
            <a:ext cx="1508760" cy="384048"/>
          </a:xfrm>
          <a:prstGeom prst="rect">
            <a:avLst/>
          </a:prstGeom>
          <a:noFill/>
          <a:ln/>
        </p:spPr>
        <p:txBody>
          <a:bodyPr wrap="square" lIns="0" tIns="0" rIns="0" bIns="0" rtlCol="0" anchor="ctr"/>
          <a:lstStyle/>
          <a:p>
            <a:pPr marL="0" indent="0">
              <a:buNone/>
            </a:pPr>
            <a:r>
              <a:rPr lang="en-US" sz="1500" b="1" dirty="0">
                <a:solidFill>
                  <a:srgbClr val="1D3A38"/>
                </a:solidFill>
                <a:latin typeface="Calibri" pitchFamily="34" charset="0"/>
                <a:ea typeface="Calibri" pitchFamily="34" charset="-122"/>
                <a:cs typeface="Calibri" pitchFamily="34" charset="-120"/>
              </a:rPr>
              <a:t>python-dotenv</a:t>
            </a:r>
            <a:endParaRPr lang="en-US" sz="1500" dirty="0"/>
          </a:p>
        </p:txBody>
      </p:sp>
      <p:sp>
        <p:nvSpPr>
          <p:cNvPr id="53" name="Text 51"/>
          <p:cNvSpPr txBox="1"/>
          <p:nvPr/>
        </p:nvSpPr>
        <p:spPr>
          <a:xfrm>
            <a:off x="9116568" y="4663440"/>
            <a:ext cx="2331720" cy="1170432"/>
          </a:xfrm>
          <a:prstGeom prst="rect">
            <a:avLst/>
          </a:prstGeom>
          <a:noFill/>
          <a:ln/>
        </p:spPr>
        <p:txBody>
          <a:bodyPr wrap="square" lIns="0" tIns="0" rIns="0" bIns="0" rtlCol="0" anchor="ctr"/>
          <a:lstStyle/>
          <a:p>
            <a:pPr marL="0" indent="0">
              <a:lnSpc>
                <a:spcPct val="115000"/>
              </a:lnSpc>
              <a:buNone/>
            </a:pPr>
            <a:r>
              <a:rPr lang="en-US" sz="1100" dirty="0">
                <a:solidFill>
                  <a:srgbClr val="2B3D3C"/>
                </a:solidFill>
                <a:latin typeface="Calibri" pitchFamily="34" charset="0"/>
                <a:ea typeface="Calibri" pitchFamily="34" charset="-122"/>
                <a:cs typeface="Calibri" pitchFamily="34" charset="-120"/>
              </a:rPr>
              <a:t>Manages database credentials and environment configuration securely.</a:t>
            </a:r>
            <a:endParaRPr lang="en-US" sz="1100" dirty="0"/>
          </a:p>
        </p:txBody>
      </p:sp>
      <p:sp>
        <p:nvSpPr>
          <p:cNvPr id="54" name="Text 52"/>
          <p:cNvSpPr txBox="1"/>
          <p:nvPr/>
        </p:nvSpPr>
        <p:spPr>
          <a:xfrm>
            <a:off x="6583680" y="6391656"/>
            <a:ext cx="5010912" cy="256032"/>
          </a:xfrm>
          <a:prstGeom prst="rect">
            <a:avLst/>
          </a:prstGeom>
          <a:noFill/>
          <a:ln/>
        </p:spPr>
        <p:txBody>
          <a:bodyPr wrap="square" lIns="0" tIns="0" rIns="0" bIns="0" rtlCol="0" anchor="ctr"/>
          <a:lstStyle/>
          <a:p>
            <a:pPr marL="0" indent="0" algn="r">
              <a:buNone/>
            </a:pPr>
            <a:r>
              <a:rPr lang="en-US" sz="850" dirty="0">
                <a:solidFill>
                  <a:srgbClr val="7A9290"/>
                </a:solidFill>
                <a:latin typeface="Calibri" pitchFamily="34" charset="0"/>
                <a:ea typeface="Calibri" pitchFamily="34" charset="-122"/>
                <a:cs typeface="Calibri" pitchFamily="34" charset="-120"/>
              </a:rPr>
              <a:t>Northstar Distribution Group  ·  Automated Finance Data Pipeline  ·  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3A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2F8F8B"/>
          </a:solidFill>
          <a:ln/>
        </p:spPr>
      </p:sp>
      <p:pic>
        <p:nvPicPr>
          <p:cNvPr id="3" name="Image 0" descr="ns/logo.png"/>
          <p:cNvPicPr>
            <a:picLocks noChangeAspect="1"/>
          </p:cNvPicPr>
          <p:nvPr/>
        </p:nvPicPr>
        <p:blipFill>
          <a:blip r:embed="rId3"/>
          <a:stretch>
            <a:fillRect/>
          </a:stretch>
        </p:blipFill>
        <p:spPr>
          <a:xfrm>
            <a:off x="502920" y="502920"/>
            <a:ext cx="1051560" cy="1060704"/>
          </a:xfrm>
          <a:prstGeom prst="rect">
            <a:avLst/>
          </a:prstGeom>
        </p:spPr>
      </p:pic>
      <p:sp>
        <p:nvSpPr>
          <p:cNvPr id="4" name="Text 1"/>
          <p:cNvSpPr txBox="1"/>
          <p:nvPr/>
        </p:nvSpPr>
        <p:spPr>
          <a:xfrm>
            <a:off x="1691640" y="548640"/>
            <a:ext cx="45720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NORTHSTAR</a:t>
            </a:r>
            <a:endParaRPr lang="en-US" sz="2600" dirty="0"/>
          </a:p>
        </p:txBody>
      </p:sp>
      <p:sp>
        <p:nvSpPr>
          <p:cNvPr id="5" name="Text 2"/>
          <p:cNvSpPr txBox="1"/>
          <p:nvPr/>
        </p:nvSpPr>
        <p:spPr>
          <a:xfrm>
            <a:off x="1691640" y="1060704"/>
            <a:ext cx="4572000" cy="292608"/>
          </a:xfrm>
          <a:prstGeom prst="rect">
            <a:avLst/>
          </a:prstGeom>
          <a:noFill/>
          <a:ln/>
        </p:spPr>
        <p:txBody>
          <a:bodyPr wrap="square" lIns="0" tIns="0" rIns="0" bIns="0" rtlCol="0" anchor="ctr"/>
          <a:lstStyle/>
          <a:p>
            <a:pPr marL="0" indent="0">
              <a:buNone/>
            </a:pPr>
            <a:r>
              <a:rPr lang="en-US" sz="1400" dirty="0">
                <a:solidFill>
                  <a:srgbClr val="A2C5C3"/>
                </a:solidFill>
                <a:latin typeface="Calibri" pitchFamily="34" charset="0"/>
                <a:ea typeface="Calibri" pitchFamily="34" charset="-122"/>
                <a:cs typeface="Calibri" pitchFamily="34" charset="-120"/>
              </a:rPr>
              <a:t>Distribution Group</a:t>
            </a:r>
            <a:endParaRPr lang="en-US" sz="1400" dirty="0"/>
          </a:p>
        </p:txBody>
      </p:sp>
      <p:sp>
        <p:nvSpPr>
          <p:cNvPr id="6" name="Shape 3"/>
          <p:cNvSpPr/>
          <p:nvPr/>
        </p:nvSpPr>
        <p:spPr>
          <a:xfrm>
            <a:off x="502920" y="1828800"/>
            <a:ext cx="11185855" cy="14630"/>
          </a:xfrm>
          <a:prstGeom prst="rect">
            <a:avLst/>
          </a:prstGeom>
          <a:solidFill>
            <a:srgbClr val="47908C"/>
          </a:solidFill>
          <a:ln/>
        </p:spPr>
      </p:sp>
      <p:sp>
        <p:nvSpPr>
          <p:cNvPr id="7" name="Text 4"/>
          <p:cNvSpPr txBox="1"/>
          <p:nvPr/>
        </p:nvSpPr>
        <p:spPr>
          <a:xfrm>
            <a:off x="502920" y="2148840"/>
            <a:ext cx="6400800" cy="233172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libri" pitchFamily="34" charset="0"/>
                <a:ea typeface="Calibri" pitchFamily="34" charset="-122"/>
                <a:cs typeface="Calibri" pitchFamily="34" charset="-120"/>
              </a:rPr>
              <a:t>From raw CSV files</a:t>
            </a:r>
            <a:endParaRPr lang="en-US" sz="4000" dirty="0"/>
          </a:p>
          <a:p>
            <a:pPr marL="0" indent="0">
              <a:lnSpc>
                <a:spcPct val="100000"/>
              </a:lnSpc>
              <a:buNone/>
            </a:pPr>
            <a:r>
              <a:rPr lang="en-US" sz="4000" b="1" dirty="0">
                <a:solidFill>
                  <a:srgbClr val="FFFFFF"/>
                </a:solidFill>
                <a:latin typeface="Calibri" pitchFamily="34" charset="0"/>
                <a:ea typeface="Calibri" pitchFamily="34" charset="-122"/>
                <a:cs typeface="Calibri" pitchFamily="34" charset="-120"/>
              </a:rPr>
              <a:t>to business insight —</a:t>
            </a:r>
            <a:endParaRPr lang="en-US" sz="4000" dirty="0"/>
          </a:p>
          <a:p>
            <a:pPr marL="0" indent="0">
              <a:lnSpc>
                <a:spcPct val="100000"/>
              </a:lnSpc>
              <a:buNone/>
            </a:pPr>
            <a:r>
              <a:rPr lang="en-US" sz="4000" b="1" dirty="0">
                <a:solidFill>
                  <a:srgbClr val="FFFFFF"/>
                </a:solidFill>
                <a:latin typeface="Calibri" pitchFamily="34" charset="0"/>
                <a:ea typeface="Calibri" pitchFamily="34" charset="-122"/>
                <a:cs typeface="Calibri" pitchFamily="34" charset="-120"/>
              </a:rPr>
              <a:t>automatically.</a:t>
            </a:r>
            <a:endParaRPr lang="en-US" sz="4000" dirty="0"/>
          </a:p>
        </p:txBody>
      </p:sp>
      <p:sp>
        <p:nvSpPr>
          <p:cNvPr id="8" name="Shape 5"/>
          <p:cNvSpPr/>
          <p:nvPr/>
        </p:nvSpPr>
        <p:spPr>
          <a:xfrm>
            <a:off x="8046720" y="1938528"/>
            <a:ext cx="3639312" cy="621792"/>
          </a:xfrm>
          <a:prstGeom prst="rect">
            <a:avLst/>
          </a:prstGeom>
          <a:solidFill>
            <a:srgbClr val="162E2C"/>
          </a:solidFill>
          <a:ln w="5080">
            <a:solidFill>
              <a:srgbClr val="47908C"/>
            </a:solidFill>
            <a:prstDash val="solid"/>
          </a:ln>
        </p:spPr>
      </p:sp>
      <p:sp>
        <p:nvSpPr>
          <p:cNvPr id="9" name="Text 6"/>
          <p:cNvSpPr txBox="1"/>
          <p:nvPr/>
        </p:nvSpPr>
        <p:spPr>
          <a:xfrm>
            <a:off x="8229600" y="1993392"/>
            <a:ext cx="3291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CSV Files arrive</a:t>
            </a:r>
            <a:endParaRPr lang="en-US" sz="1250" dirty="0"/>
          </a:p>
        </p:txBody>
      </p:sp>
      <p:sp>
        <p:nvSpPr>
          <p:cNvPr id="10" name="Text 7"/>
          <p:cNvSpPr txBox="1"/>
          <p:nvPr/>
        </p:nvSpPr>
        <p:spPr>
          <a:xfrm>
            <a:off x="8229600" y="2286000"/>
            <a:ext cx="3291840" cy="237744"/>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incoming/ folder</a:t>
            </a:r>
            <a:endParaRPr lang="en-US" sz="1050" dirty="0"/>
          </a:p>
        </p:txBody>
      </p:sp>
      <p:sp>
        <p:nvSpPr>
          <p:cNvPr id="11" name="Text 8"/>
          <p:cNvSpPr txBox="1"/>
          <p:nvPr/>
        </p:nvSpPr>
        <p:spPr>
          <a:xfrm>
            <a:off x="8686800" y="2542032"/>
            <a:ext cx="457200" cy="137160"/>
          </a:xfrm>
          <a:prstGeom prst="rect">
            <a:avLst/>
          </a:prstGeom>
          <a:noFill/>
          <a:ln/>
        </p:spPr>
        <p:txBody>
          <a:bodyPr wrap="square" lIns="0" tIns="0" rIns="0" bIns="0" rtlCol="0" anchor="ctr"/>
          <a:lstStyle/>
          <a:p>
            <a:pPr marL="0" indent="0">
              <a:buNone/>
            </a:pPr>
            <a:r>
              <a:rPr lang="en-US" sz="1000" dirty="0">
                <a:solidFill>
                  <a:srgbClr val="2F8F8B"/>
                </a:solidFill>
                <a:latin typeface="Calibri" pitchFamily="34" charset="0"/>
                <a:ea typeface="Calibri" pitchFamily="34" charset="-122"/>
                <a:cs typeface="Calibri" pitchFamily="34" charset="-120"/>
              </a:rPr>
              <a:t>↓</a:t>
            </a:r>
            <a:endParaRPr lang="en-US" sz="1000" dirty="0"/>
          </a:p>
        </p:txBody>
      </p:sp>
      <p:sp>
        <p:nvSpPr>
          <p:cNvPr id="12" name="Shape 9"/>
          <p:cNvSpPr/>
          <p:nvPr/>
        </p:nvSpPr>
        <p:spPr>
          <a:xfrm>
            <a:off x="8046720" y="2670048"/>
            <a:ext cx="3639312" cy="621792"/>
          </a:xfrm>
          <a:prstGeom prst="rect">
            <a:avLst/>
          </a:prstGeom>
          <a:solidFill>
            <a:srgbClr val="162E2C"/>
          </a:solidFill>
          <a:ln w="5080">
            <a:solidFill>
              <a:srgbClr val="47908C"/>
            </a:solidFill>
            <a:prstDash val="solid"/>
          </a:ln>
        </p:spPr>
      </p:sp>
      <p:sp>
        <p:nvSpPr>
          <p:cNvPr id="13" name="Text 10"/>
          <p:cNvSpPr txBox="1"/>
          <p:nvPr/>
        </p:nvSpPr>
        <p:spPr>
          <a:xfrm>
            <a:off x="8229600" y="2724912"/>
            <a:ext cx="3291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Pipeline runs</a:t>
            </a:r>
            <a:endParaRPr lang="en-US" sz="1250" dirty="0"/>
          </a:p>
        </p:txBody>
      </p:sp>
      <p:sp>
        <p:nvSpPr>
          <p:cNvPr id="14" name="Text 11"/>
          <p:cNvSpPr txBox="1"/>
          <p:nvPr/>
        </p:nvSpPr>
        <p:spPr>
          <a:xfrm>
            <a:off x="8229600" y="3017520"/>
            <a:ext cx="3291840" cy="237744"/>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Every 15 minutes</a:t>
            </a:r>
            <a:endParaRPr lang="en-US" sz="1050" dirty="0"/>
          </a:p>
        </p:txBody>
      </p:sp>
      <p:sp>
        <p:nvSpPr>
          <p:cNvPr id="15" name="Text 12"/>
          <p:cNvSpPr txBox="1"/>
          <p:nvPr/>
        </p:nvSpPr>
        <p:spPr>
          <a:xfrm>
            <a:off x="8686800" y="3273552"/>
            <a:ext cx="457200" cy="137160"/>
          </a:xfrm>
          <a:prstGeom prst="rect">
            <a:avLst/>
          </a:prstGeom>
          <a:noFill/>
          <a:ln/>
        </p:spPr>
        <p:txBody>
          <a:bodyPr wrap="square" lIns="0" tIns="0" rIns="0" bIns="0" rtlCol="0" anchor="ctr"/>
          <a:lstStyle/>
          <a:p>
            <a:pPr marL="0" indent="0">
              <a:buNone/>
            </a:pPr>
            <a:r>
              <a:rPr lang="en-US" sz="1000" dirty="0">
                <a:solidFill>
                  <a:srgbClr val="2F8F8B"/>
                </a:solidFill>
                <a:latin typeface="Calibri" pitchFamily="34" charset="0"/>
                <a:ea typeface="Calibri" pitchFamily="34" charset="-122"/>
                <a:cs typeface="Calibri" pitchFamily="34" charset="-120"/>
              </a:rPr>
              <a:t>↓</a:t>
            </a:r>
            <a:endParaRPr lang="en-US" sz="1000" dirty="0"/>
          </a:p>
        </p:txBody>
      </p:sp>
      <p:sp>
        <p:nvSpPr>
          <p:cNvPr id="16" name="Shape 13"/>
          <p:cNvSpPr/>
          <p:nvPr/>
        </p:nvSpPr>
        <p:spPr>
          <a:xfrm>
            <a:off x="8046720" y="3401568"/>
            <a:ext cx="3639312" cy="621792"/>
          </a:xfrm>
          <a:prstGeom prst="rect">
            <a:avLst/>
          </a:prstGeom>
          <a:solidFill>
            <a:srgbClr val="162E2C"/>
          </a:solidFill>
          <a:ln w="5080">
            <a:solidFill>
              <a:srgbClr val="47908C"/>
            </a:solidFill>
            <a:prstDash val="solid"/>
          </a:ln>
        </p:spPr>
      </p:sp>
      <p:sp>
        <p:nvSpPr>
          <p:cNvPr id="17" name="Text 14"/>
          <p:cNvSpPr txBox="1"/>
          <p:nvPr/>
        </p:nvSpPr>
        <p:spPr>
          <a:xfrm>
            <a:off x="8229600" y="3456432"/>
            <a:ext cx="3291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Validate &amp; deduplicate</a:t>
            </a:r>
            <a:endParaRPr lang="en-US" sz="1250" dirty="0"/>
          </a:p>
        </p:txBody>
      </p:sp>
      <p:sp>
        <p:nvSpPr>
          <p:cNvPr id="18" name="Text 15"/>
          <p:cNvSpPr txBox="1"/>
          <p:nvPr/>
        </p:nvSpPr>
        <p:spPr>
          <a:xfrm>
            <a:off x="8229600" y="3749040"/>
            <a:ext cx="3291840" cy="237744"/>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SHA-256 + 6 quality checks</a:t>
            </a:r>
            <a:endParaRPr lang="en-US" sz="1050" dirty="0"/>
          </a:p>
        </p:txBody>
      </p:sp>
      <p:sp>
        <p:nvSpPr>
          <p:cNvPr id="19" name="Text 16"/>
          <p:cNvSpPr txBox="1"/>
          <p:nvPr/>
        </p:nvSpPr>
        <p:spPr>
          <a:xfrm>
            <a:off x="8686800" y="4005072"/>
            <a:ext cx="457200" cy="137160"/>
          </a:xfrm>
          <a:prstGeom prst="rect">
            <a:avLst/>
          </a:prstGeom>
          <a:noFill/>
          <a:ln/>
        </p:spPr>
        <p:txBody>
          <a:bodyPr wrap="square" lIns="0" tIns="0" rIns="0" bIns="0" rtlCol="0" anchor="ctr"/>
          <a:lstStyle/>
          <a:p>
            <a:pPr marL="0" indent="0">
              <a:buNone/>
            </a:pPr>
            <a:r>
              <a:rPr lang="en-US" sz="1000" dirty="0">
                <a:solidFill>
                  <a:srgbClr val="2F8F8B"/>
                </a:solidFill>
                <a:latin typeface="Calibri" pitchFamily="34" charset="0"/>
                <a:ea typeface="Calibri" pitchFamily="34" charset="-122"/>
                <a:cs typeface="Calibri" pitchFamily="34" charset="-120"/>
              </a:rPr>
              <a:t>↓</a:t>
            </a:r>
            <a:endParaRPr lang="en-US" sz="1000" dirty="0"/>
          </a:p>
        </p:txBody>
      </p:sp>
      <p:sp>
        <p:nvSpPr>
          <p:cNvPr id="20" name="Shape 17"/>
          <p:cNvSpPr/>
          <p:nvPr/>
        </p:nvSpPr>
        <p:spPr>
          <a:xfrm>
            <a:off x="8046720" y="4133088"/>
            <a:ext cx="3639312" cy="621792"/>
          </a:xfrm>
          <a:prstGeom prst="rect">
            <a:avLst/>
          </a:prstGeom>
          <a:solidFill>
            <a:srgbClr val="162E2C"/>
          </a:solidFill>
          <a:ln w="5080">
            <a:solidFill>
              <a:srgbClr val="47908C"/>
            </a:solidFill>
            <a:prstDash val="solid"/>
          </a:ln>
        </p:spPr>
      </p:sp>
      <p:sp>
        <p:nvSpPr>
          <p:cNvPr id="21" name="Text 18"/>
          <p:cNvSpPr txBox="1"/>
          <p:nvPr/>
        </p:nvSpPr>
        <p:spPr>
          <a:xfrm>
            <a:off x="8229600" y="4187952"/>
            <a:ext cx="3291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Load to PostgreSQL</a:t>
            </a:r>
            <a:endParaRPr lang="en-US" sz="1250" dirty="0"/>
          </a:p>
        </p:txBody>
      </p:sp>
      <p:sp>
        <p:nvSpPr>
          <p:cNvPr id="22" name="Text 19"/>
          <p:cNvSpPr txBox="1"/>
          <p:nvPr/>
        </p:nvSpPr>
        <p:spPr>
          <a:xfrm>
            <a:off x="8229600" y="4480560"/>
            <a:ext cx="3291840" cy="237744"/>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Transactional · Audited</a:t>
            </a:r>
            <a:endParaRPr lang="en-US" sz="1050" dirty="0"/>
          </a:p>
        </p:txBody>
      </p:sp>
      <p:sp>
        <p:nvSpPr>
          <p:cNvPr id="23" name="Text 20"/>
          <p:cNvSpPr txBox="1"/>
          <p:nvPr/>
        </p:nvSpPr>
        <p:spPr>
          <a:xfrm>
            <a:off x="8686800" y="4736592"/>
            <a:ext cx="457200" cy="137160"/>
          </a:xfrm>
          <a:prstGeom prst="rect">
            <a:avLst/>
          </a:prstGeom>
          <a:noFill/>
          <a:ln/>
        </p:spPr>
        <p:txBody>
          <a:bodyPr wrap="square" lIns="0" tIns="0" rIns="0" bIns="0" rtlCol="0" anchor="ctr"/>
          <a:lstStyle/>
          <a:p>
            <a:pPr marL="0" indent="0">
              <a:buNone/>
            </a:pPr>
            <a:r>
              <a:rPr lang="en-US" sz="1000" dirty="0">
                <a:solidFill>
                  <a:srgbClr val="2F8F8B"/>
                </a:solidFill>
                <a:latin typeface="Calibri" pitchFamily="34" charset="0"/>
                <a:ea typeface="Calibri" pitchFamily="34" charset="-122"/>
                <a:cs typeface="Calibri" pitchFamily="34" charset="-120"/>
              </a:rPr>
              <a:t>↓</a:t>
            </a:r>
            <a:endParaRPr lang="en-US" sz="1000" dirty="0"/>
          </a:p>
        </p:txBody>
      </p:sp>
      <p:sp>
        <p:nvSpPr>
          <p:cNvPr id="24" name="Shape 21"/>
          <p:cNvSpPr/>
          <p:nvPr/>
        </p:nvSpPr>
        <p:spPr>
          <a:xfrm>
            <a:off x="8046720" y="4864608"/>
            <a:ext cx="3639312" cy="621792"/>
          </a:xfrm>
          <a:prstGeom prst="rect">
            <a:avLst/>
          </a:prstGeom>
          <a:solidFill>
            <a:srgbClr val="162E2C"/>
          </a:solidFill>
          <a:ln w="5080">
            <a:solidFill>
              <a:srgbClr val="47908C"/>
            </a:solidFill>
            <a:prstDash val="solid"/>
          </a:ln>
        </p:spPr>
      </p:sp>
      <p:sp>
        <p:nvSpPr>
          <p:cNvPr id="25" name="Text 22"/>
          <p:cNvSpPr txBox="1"/>
          <p:nvPr/>
        </p:nvSpPr>
        <p:spPr>
          <a:xfrm>
            <a:off x="8229600" y="4919472"/>
            <a:ext cx="3291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SQL views prepare data</a:t>
            </a:r>
            <a:endParaRPr lang="en-US" sz="1250" dirty="0"/>
          </a:p>
        </p:txBody>
      </p:sp>
      <p:sp>
        <p:nvSpPr>
          <p:cNvPr id="26" name="Text 23"/>
          <p:cNvSpPr txBox="1"/>
          <p:nvPr/>
        </p:nvSpPr>
        <p:spPr>
          <a:xfrm>
            <a:off x="8229600" y="5212080"/>
            <a:ext cx="3291840" cy="237744"/>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6 reporting views</a:t>
            </a:r>
            <a:endParaRPr lang="en-US" sz="1050" dirty="0"/>
          </a:p>
        </p:txBody>
      </p:sp>
      <p:sp>
        <p:nvSpPr>
          <p:cNvPr id="27" name="Text 24"/>
          <p:cNvSpPr txBox="1"/>
          <p:nvPr/>
        </p:nvSpPr>
        <p:spPr>
          <a:xfrm>
            <a:off x="8686800" y="5468112"/>
            <a:ext cx="457200" cy="137160"/>
          </a:xfrm>
          <a:prstGeom prst="rect">
            <a:avLst/>
          </a:prstGeom>
          <a:noFill/>
          <a:ln/>
        </p:spPr>
        <p:txBody>
          <a:bodyPr wrap="square" lIns="0" tIns="0" rIns="0" bIns="0" rtlCol="0" anchor="ctr"/>
          <a:lstStyle/>
          <a:p>
            <a:pPr marL="0" indent="0">
              <a:buNone/>
            </a:pPr>
            <a:r>
              <a:rPr lang="en-US" sz="1000" dirty="0">
                <a:solidFill>
                  <a:srgbClr val="2F8F8B"/>
                </a:solidFill>
                <a:latin typeface="Calibri" pitchFamily="34" charset="0"/>
                <a:ea typeface="Calibri" pitchFamily="34" charset="-122"/>
                <a:cs typeface="Calibri" pitchFamily="34" charset="-120"/>
              </a:rPr>
              <a:t>↓</a:t>
            </a:r>
            <a:endParaRPr lang="en-US" sz="1000" dirty="0"/>
          </a:p>
        </p:txBody>
      </p:sp>
      <p:sp>
        <p:nvSpPr>
          <p:cNvPr id="28" name="Shape 25"/>
          <p:cNvSpPr/>
          <p:nvPr/>
        </p:nvSpPr>
        <p:spPr>
          <a:xfrm>
            <a:off x="8046720" y="5596128"/>
            <a:ext cx="3639312" cy="621792"/>
          </a:xfrm>
          <a:prstGeom prst="rect">
            <a:avLst/>
          </a:prstGeom>
          <a:solidFill>
            <a:srgbClr val="162E2C"/>
          </a:solidFill>
          <a:ln w="5080">
            <a:solidFill>
              <a:srgbClr val="47908C"/>
            </a:solidFill>
            <a:prstDash val="solid"/>
          </a:ln>
        </p:spPr>
      </p:sp>
      <p:sp>
        <p:nvSpPr>
          <p:cNvPr id="29" name="Text 26"/>
          <p:cNvSpPr txBox="1"/>
          <p:nvPr/>
        </p:nvSpPr>
        <p:spPr>
          <a:xfrm>
            <a:off x="8229600" y="5650992"/>
            <a:ext cx="3291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Power BI surfaces insights</a:t>
            </a:r>
            <a:endParaRPr lang="en-US" sz="1250" dirty="0"/>
          </a:p>
        </p:txBody>
      </p:sp>
      <p:sp>
        <p:nvSpPr>
          <p:cNvPr id="30" name="Text 27"/>
          <p:cNvSpPr txBox="1"/>
          <p:nvPr/>
        </p:nvSpPr>
        <p:spPr>
          <a:xfrm>
            <a:off x="8229600" y="5943600"/>
            <a:ext cx="3291840" cy="237744"/>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4 dashboard pages</a:t>
            </a:r>
            <a:endParaRPr lang="en-US" sz="1050" dirty="0"/>
          </a:p>
        </p:txBody>
      </p:sp>
      <p:sp>
        <p:nvSpPr>
          <p:cNvPr id="31" name="Shape 28"/>
          <p:cNvSpPr/>
          <p:nvPr/>
        </p:nvSpPr>
        <p:spPr>
          <a:xfrm>
            <a:off x="502920" y="5650992"/>
            <a:ext cx="7315200" cy="14630"/>
          </a:xfrm>
          <a:prstGeom prst="rect">
            <a:avLst/>
          </a:prstGeom>
          <a:solidFill>
            <a:srgbClr val="47908C"/>
          </a:solidFill>
          <a:ln/>
        </p:spPr>
      </p:sp>
      <p:sp>
        <p:nvSpPr>
          <p:cNvPr id="32" name="Text 29"/>
          <p:cNvSpPr txBox="1"/>
          <p:nvPr/>
        </p:nvSpPr>
        <p:spPr>
          <a:xfrm>
            <a:off x="502920" y="5806440"/>
            <a:ext cx="7315200" cy="256032"/>
          </a:xfrm>
          <a:prstGeom prst="rect">
            <a:avLst/>
          </a:prstGeom>
          <a:noFill/>
          <a:ln/>
        </p:spPr>
        <p:txBody>
          <a:bodyPr wrap="square" lIns="0" tIns="0" rIns="0" bIns="0" rtlCol="0" anchor="ctr"/>
          <a:lstStyle/>
          <a:p>
            <a:pPr marL="0" indent="0">
              <a:buNone/>
            </a:pPr>
            <a:r>
              <a:rPr lang="en-US" sz="1050" dirty="0">
                <a:solidFill>
                  <a:srgbClr val="A2C5C3"/>
                </a:solidFill>
                <a:latin typeface="Calibri" pitchFamily="34" charset="0"/>
                <a:ea typeface="Calibri" pitchFamily="34" charset="-122"/>
                <a:cs typeface="Calibri" pitchFamily="34" charset="-120"/>
              </a:rPr>
              <a:t>Python  ·  pandas  ·  PostgreSQL  ·  SQLAlchemy  ·  SQL  ·  Windows Task Scheduler  ·  Power BI</a:t>
            </a:r>
            <a:endParaRPr lang="en-US" sz="1050" dirty="0"/>
          </a:p>
        </p:txBody>
      </p:sp>
      <p:sp>
        <p:nvSpPr>
          <p:cNvPr id="33" name="Text 30"/>
          <p:cNvSpPr txBox="1"/>
          <p:nvPr/>
        </p:nvSpPr>
        <p:spPr>
          <a:xfrm>
            <a:off x="502920" y="6108192"/>
            <a:ext cx="73152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Edward Jon Arquiza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1372</Words>
  <Application>Microsoft Office PowerPoint</Application>
  <PresentationFormat>Widescreen</PresentationFormat>
  <Paragraphs>203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Distribution Group – Automated Finance Data Pipeline</dc:title>
  <dc:subject>PptxGenJS Presentation</dc:subject>
  <dc:creator>Edward Jon Arquiza</dc:creator>
  <cp:lastModifiedBy>USER</cp:lastModifiedBy>
  <cp:revision>3</cp:revision>
  <dcterms:created xsi:type="dcterms:W3CDTF">2026-09-09T06:40:48Z</dcterms:created>
  <dcterms:modified xsi:type="dcterms:W3CDTF">2026-09-09T06:57:58Z</dcterms:modified>
</cp:coreProperties>
</file>