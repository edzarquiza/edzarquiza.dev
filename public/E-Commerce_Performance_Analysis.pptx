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936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simulated business case built on the Olist public dataset, covering January 2017 to August 2018. Three dashboard pages, one question: how is the business performing, and where should management look?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problem, not the dataset. The business has plenty of data and no consolidated read on performance. One question drives the whole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first. Nearly a hundred thousand orders and 13.54 million in revenue — a real commercial base. Two of these five numbers are operational, and those are the ones that open up the rest of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is a growth story. 2018 flattens and gets choppier. That shift is the reason the analysis doesn't stop at revenue — a flat top line with an operational problem underneath looks very different from a flat top line without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finding in the project. Late orders average 2.57 against 4.29 for on-time — a 1.72-point gap. The distribution matters as much as the average: nearly half of late deliveries score a single star. I describe this as an association deliberately; the dataset has no field explaining why an order was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company-wide number hides the variation. Monthly performance swings, some states run several points above the average, and late deliveries cluster in particular categories. None of that identifies a cause — the dataset has no delay-reason field — but it tells operations where to point an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Paulo leads revenue and customer count by a wide margin — but it does not lead revenue per customer. Several smaller states generate more value per customer. That is the whole argument for not ranking markets by revenue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decision framework the dashboard is built to support. A state with high revenue but weak delivery needs a different response from a smaller state with strong customer value and reliable delivery. Optimising any one of these measures alone will point management at the wrong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carry the story: how often delivery fails, what that failure looks like to the customer, and how concentrated the revenue is. Everything I recommend traces back to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reliability comes first because it has the clearest link to customer experience. Diversification is second — it is a dependency question, not a São Paulo problem. Three and four are commercial growth, and both depend on reading several measures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reasoning, not a thank-you. A strong commercial base, one operational signal, one customer-experience signal, one concentration risk — and an action that follows from all four. And an honest boundary: this identifies where to look, it does not prove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2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PORTFOLIO CASE STUDY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3703320"/>
            <a:ext cx="914400" cy="457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977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Delivery, Customer Experience &amp; Geographic Performance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Public Dataset  ·  January 2017 – August 2018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6E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77824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2761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Customer Experience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3465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34198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Geographic Performance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5577840"/>
            <a:ext cx="10820095" cy="18288"/>
          </a:xfrm>
          <a:prstGeom prst="rect">
            <a:avLst/>
          </a:prstGeom>
          <a:solidFill>
            <a:srgbClr val="125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760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Power Query  ·  DAX  ·  Data Modeling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053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 Arquiza  ·  2026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6053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E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business case for portfolio purposes.</a:t>
            </a:r>
            <a:endParaRPr lang="en-US" sz="9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397" y="740388"/>
            <a:ext cx="1756062" cy="1170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BUSINESS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commercial base — but where should attention go?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transaction, customer, product, seller, payment, review and delivery data — but no consolidated view of how the business is actually performing.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97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NEEDS TO UNDERSTAND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274320" cy="274320"/>
          </a:xfrm>
          <a:prstGeom prst="ellipse">
            <a:avLst/>
          </a:prstGeom>
          <a:solidFill>
            <a:srgbClr val="087F8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0449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sales are performing over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274320" cy="274320"/>
          </a:xfrm>
          <a:prstGeom prst="ellipse">
            <a:avLst/>
          </a:prstGeom>
          <a:solidFill>
            <a:srgbClr val="087F8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021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is coming from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274320" cy="274320"/>
          </a:xfrm>
          <a:prstGeom prst="ellipse">
            <a:avLst/>
          </a:prstGeom>
          <a:solidFill>
            <a:srgbClr val="087F8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593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delivery 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274320" cy="274320"/>
          </a:xfrm>
          <a:prstGeom prst="ellipse">
            <a:avLst/>
          </a:prstGeom>
          <a:solidFill>
            <a:srgbClr val="087F8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165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delivery performance relates to customer satisfaction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274320" cy="274320"/>
          </a:xfrm>
          <a:prstGeom prst="ellipse">
            <a:avLst/>
          </a:prstGeom>
          <a:solidFill>
            <a:srgbClr val="087F8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8737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markets and categories deserve attention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1828800"/>
            <a:ext cx="3730752" cy="2743200"/>
          </a:xfrm>
          <a:prstGeom prst="rect">
            <a:avLst/>
          </a:prstGeom>
          <a:solidFill>
            <a:srgbClr val="087F8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9244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5146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strongest opportunities for improvement and growth?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70916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that follows answers one part of this question.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2</a:t>
            </a:r>
            <a:endParaRPr lang="en-US" sz="85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BUSINESS AT A GLANCE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generated ₱13.54M across 99.1K orders.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4114800" cy="3520440"/>
          </a:xfrm>
          <a:prstGeom prst="rect">
            <a:avLst/>
          </a:prstGeom>
          <a:solidFill>
            <a:srgbClr val="087F8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₱13.54M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1051560" y="3611880"/>
            <a:ext cx="731520" cy="27432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 across the analysis period,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2017 – August 2018.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95.8K unique 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74920" y="1874520"/>
            <a:ext cx="3063240" cy="169164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49240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752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008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order IDs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48472" y="1874520"/>
            <a:ext cx="3063240" cy="169164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22792" y="21305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₱136.66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2752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ORDER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3008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3703320"/>
            <a:ext cx="3063240" cy="169164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49240" y="39593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91.87%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581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837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orders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48472" y="3703320"/>
            <a:ext cx="3063240" cy="169164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22792" y="39593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4.11 / 5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622792" y="4581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622792" y="4837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base is strong, but operational performance and customer experience warrant closer investigation.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3</a:t>
            </a:r>
            <a:endParaRPr lang="en-US" sz="8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SALES 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grew substantially — then became more volatile.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0936" y="1865376"/>
            <a:ext cx="7059168" cy="40142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5" name="Image 0" descr="ec/rev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6949440" cy="3904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943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January 2017 – August 2018 — Executive Overview.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196596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through 2017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27685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climbed steadily across 2017, peaking in November.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20040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through 2018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51129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moves up and down within a narrower band rather than continuing to climb.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44348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concentration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74573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was the highest-revenue category in the analysed dashboard context.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01000" y="5532120"/>
            <a:ext cx="3502152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01000" y="566928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alone doesn't tell us whether the business is healthy.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4</a:t>
            </a:r>
            <a:endParaRPr lang="en-US" sz="8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CUSTOMER EXPERIENCE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deliveries are associated with a 1.72-point lower review score.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350008"/>
            <a:ext cx="3931920" cy="384048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350008"/>
            <a:ext cx="3373587" cy="384048"/>
          </a:xfrm>
          <a:prstGeom prst="rect">
            <a:avLst/>
          </a:prstGeom>
          <a:solidFill>
            <a:srgbClr val="087F8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2313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 / 5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3401568"/>
            <a:ext cx="3931920" cy="384048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401568"/>
            <a:ext cx="2021007" cy="384048"/>
          </a:xfrm>
          <a:prstGeom prst="rect">
            <a:avLst/>
          </a:prstGeom>
          <a:solidFill>
            <a:srgbClr val="C254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3364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2.57 / 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06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by delivery status. Scale 0–5.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4572000"/>
            <a:ext cx="2377440" cy="11430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266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6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GAP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4572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91.87%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572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5166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8.13%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51663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82712" y="1911096"/>
            <a:ext cx="2852928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21" name="Image 0" descr="ec/score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965960"/>
            <a:ext cx="2743200" cy="20116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15200" y="4096512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just a shift in the average — the whole rating mix differs. 46.14% of late deliveries scored 1 star, against 62.45% of on-time deliveries scoring 5.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15200" y="4663440"/>
            <a:ext cx="4187952" cy="1417320"/>
          </a:xfrm>
          <a:prstGeom prst="rect">
            <a:avLst/>
          </a:prstGeom>
          <a:solidFill>
            <a:srgbClr val="E4EFE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58952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— NOT CAUSATION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51480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are associated with substantially lower review scores. The data does not establish that lateness caused them — product issues, seller performance and customer expectations may also be at work.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5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DELIVERY 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is strong overall — but not uniform.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0936" y="1865376"/>
            <a:ext cx="5733288" cy="2990088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5" name="Image 0" descr="ec/ontime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5623560" cy="2880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489204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 by month — the rate dips well below the overall average in several periods.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91.87%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5394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orders arrived on time — but the rate is not uniform.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20256" y="1865376"/>
            <a:ext cx="299008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10" name="Image 1" descr="ec/ontime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20240"/>
            <a:ext cx="2880360" cy="9418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29443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by state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9637776" y="1865376"/>
            <a:ext cx="1920240" cy="1060704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13" name="Image 2" descr="ec/late_c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1920240"/>
            <a:ext cx="1810512" cy="9509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92640" y="29443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volume by category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6675120" y="338328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varies across states, categories and time periods.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675120" y="4023360"/>
            <a:ext cx="4828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identifies where further investigation may be useful. The dataset records whether an order was late, not why — so weaker states and high-late-volume categories are areas to investigate, not identified causes.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675120" y="5257800"/>
            <a:ext cx="4828032" cy="6858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858000" y="52578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= actual delivery date ≤ estimated delivery date. Orders without a customer delivery date are excluded from delivered orders.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6</a:t>
            </a:r>
            <a:endParaRPr lang="en-US" sz="85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GEOGRAPHIC PERFORMANCE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concentration creates both strength and opportunity.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651760" cy="1600200"/>
          </a:xfrm>
          <a:prstGeom prst="rect">
            <a:avLst/>
          </a:prstGeom>
          <a:solidFill>
            <a:srgbClr val="087F8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comes from São Paulo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87452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is the core market. Concentration is a strength and a dependency — but it does not mean São Paulo is underperforming.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874520"/>
            <a:ext cx="4279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alone does not tell us whether a market is attractive. The analysis reads every state on three dimensions instead.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59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" y="4224528"/>
            <a:ext cx="349300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12" name="Image 0" descr="ec/rev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79392"/>
            <a:ext cx="3383280" cy="188366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370832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370832" y="3959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by state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15968" y="4224528"/>
            <a:ext cx="349300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16" name="Image 1" descr="ec/cust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4279392"/>
            <a:ext cx="3383280" cy="18836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55864" y="3703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055864" y="3959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 by state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01000" y="4224528"/>
            <a:ext cx="3493008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7EA"/>
            </a:solidFill>
            <a:prstDash val="solid"/>
          </a:ln>
        </p:spPr>
      </p:sp>
      <p:pic>
        <p:nvPicPr>
          <p:cNvPr id="20" name="Image 2" descr="ec/revcust_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4279392"/>
            <a:ext cx="3383280" cy="18836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7</a:t>
            </a:r>
            <a:endParaRPr lang="en-US" sz="85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PRIORITIZATION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alone is not enough to decide where to focus.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206240" cy="4572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532888"/>
            <a:ext cx="4206240" cy="4572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32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5328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99816"/>
            <a:ext cx="4206240" cy="4572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099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customer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099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66744"/>
            <a:ext cx="4206240" cy="4572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666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6667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233672"/>
            <a:ext cx="4206240" cy="4572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233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828032"/>
            <a:ext cx="4206240" cy="502920"/>
          </a:xfrm>
          <a:prstGeom prst="rect">
            <a:avLst/>
          </a:prstGeom>
          <a:solidFill>
            <a:srgbClr val="087F8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828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PRIORITIZATION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532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opportunity is not necessarily the market with the highest revenue.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874520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MARKET PROFILES IN THE STATE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2286000"/>
            <a:ext cx="5833872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669280" y="242316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+ high revenue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274320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markets — protect and maintain.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3218688"/>
            <a:ext cx="5833872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0" y="3355848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+ lower customer value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675888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value opportunity.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0" y="4151376"/>
            <a:ext cx="5833872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0" y="4288536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volume + high revenue per customer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4608576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niche markets.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0" y="5084064"/>
            <a:ext cx="5833872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0" y="5221224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 + low revenue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5541264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immediate priority.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0" y="6035040"/>
            <a:ext cx="5833872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8</a:t>
            </a:r>
            <a:endParaRPr lang="en-US" sz="85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FINDINGS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signals stand 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383280" cy="310896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8.13%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orders were late.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383280" cy="3108960"/>
          </a:xfrm>
          <a:prstGeom prst="rect">
            <a:avLst/>
          </a:prstGeom>
          <a:solidFill>
            <a:srgbClr val="087F8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90872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90872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2.57 vs 4.29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score, late versus on-time deliveries.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55864" y="1965960"/>
            <a:ext cx="3383280" cy="310896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75904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CONCENTRATION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38.3%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8404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came from São Paulo.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Together, these suggest that operational reliability and geographic diversification deserve attention.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9</a:t>
            </a:r>
            <a:endParaRPr lang="en-US" sz="85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r>
              <a:rPr lang="en-US" sz="1000" b="1" kern="0" spc="18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0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actions emerge from the analysis.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0820095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103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 RELIABILITY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423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8.13% late · 1.72-point review gap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103120"/>
            <a:ext cx="6565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weaker-performing states, categories with higher late-delivery volumes, and periods consistently below the benchmark.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980944"/>
            <a:ext cx="10820095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821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GEOGRAPHIC REVENUE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838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38.3% of revenue from São Paulo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163824"/>
            <a:ext cx="6565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São Paulo's strength while developing revenue contribution from other states.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041648"/>
            <a:ext cx="10820095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2428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HIGH-VALUE MARKETS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544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 varies by state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224528"/>
            <a:ext cx="6565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customer base, revenue, revenue per customer and delivery performance together — not revenue alone.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5102352"/>
            <a:ext cx="10820095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7F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2852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HIGH-VALUE CATEGORIES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605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87F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per order varies widely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5285232"/>
            <a:ext cx="6565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categories with stronger revenue-per-order performance for targeted commercial strategies.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6163056"/>
            <a:ext cx="10820095" cy="18288"/>
          </a:xfrm>
          <a:prstGeom prst="rect">
            <a:avLst/>
          </a:prstGeom>
          <a:solidFill>
            <a:srgbClr val="E1E7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6236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action traces to an observed finding.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638251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Analysis  ·  Olist Marketplace  ·  10</a:t>
            </a:r>
            <a:endParaRPr lang="en-US" sz="8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4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r>
              <a:rPr lang="en-US" sz="1000" b="1" kern="0" spc="180" dirty="0">
                <a:solidFill>
                  <a:srgbClr val="6E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ANALYST TAKEAWAY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4980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 is not just to sell more — it is to understand where performance can improve.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377440" cy="1188720"/>
          </a:xfrm>
          <a:prstGeom prst="rect">
            <a:avLst/>
          </a:prstGeom>
          <a:solidFill>
            <a:srgbClr val="0B5C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kern="0" spc="11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COMMERCIAL BASE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₱13.54M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9659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1965960"/>
            <a:ext cx="2377440" cy="1188720"/>
          </a:xfrm>
          <a:prstGeom prst="rect">
            <a:avLst/>
          </a:prstGeom>
          <a:solidFill>
            <a:srgbClr val="0B5C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kern="0" spc="11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SIGNAL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8.13% late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9659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2377440" cy="1188720"/>
          </a:xfrm>
          <a:prstGeom prst="rect">
            <a:avLst/>
          </a:prstGeom>
          <a:solidFill>
            <a:srgbClr val="0B5C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3368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kern="0" spc="11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SIGNAL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1.72-point gap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196596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15400" y="1965960"/>
            <a:ext cx="2377440" cy="1188720"/>
          </a:xfrm>
          <a:prstGeom prst="rect">
            <a:avLst/>
          </a:prstGeom>
          <a:solidFill>
            <a:srgbClr val="0B5C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16568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b="1" kern="0" spc="11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116568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38.3% from SP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" y="3310128"/>
            <a:ext cx="10607040" cy="65836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331012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 ·   Improve delivery reliability while using geographic and category analysis to guide targeted growth.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2245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6E9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DOES NOT PROVE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672584"/>
            <a:ext cx="82296" cy="82296"/>
          </a:xfrm>
          <a:prstGeom prst="rect">
            <a:avLst/>
          </a:prstGeom>
          <a:solidFill>
            <a:srgbClr val="BFD6D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prove causation.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4672584"/>
            <a:ext cx="82296" cy="82296"/>
          </a:xfrm>
          <a:prstGeom prst="rect">
            <a:avLst/>
          </a:prstGeom>
          <a:solidFill>
            <a:srgbClr val="BFD6D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late-delivery volume does not identify the root cause.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5084064"/>
            <a:ext cx="82296" cy="82296"/>
          </a:xfrm>
          <a:prstGeom prst="rect">
            <a:avLst/>
          </a:prstGeom>
          <a:solidFill>
            <a:srgbClr val="BFD6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Paulo's revenue concentration does not mean São Paulo is underperforming.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5084064"/>
            <a:ext cx="82296" cy="82296"/>
          </a:xfrm>
          <a:prstGeom prst="rect">
            <a:avLst/>
          </a:prstGeom>
          <a:solidFill>
            <a:srgbClr val="BFD6D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4983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does not equal profitability.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5800" y="5806440"/>
            <a:ext cx="10817352" cy="18288"/>
          </a:xfrm>
          <a:prstGeom prst="rect">
            <a:avLst/>
          </a:prstGeom>
          <a:solidFill>
            <a:srgbClr val="125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6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Power Query  ·  DAX  ·  Data Modeling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598932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Jon Arquiza</a:t>
            </a:r>
            <a:endParaRPr lang="en-US" sz="1100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120" y="27846"/>
            <a:ext cx="957044" cy="638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1616</Words>
  <Application>Microsoft Office PowerPoint</Application>
  <PresentationFormat>Widescreen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Performance Analysis</dc:title>
  <dc:subject>PptxGenJS Presentation</dc:subject>
  <dc:creator>Edward Jon Arquiza</dc:creator>
  <cp:lastModifiedBy>USER</cp:lastModifiedBy>
  <cp:revision>3</cp:revision>
  <dcterms:created xsi:type="dcterms:W3CDTF">2026-08-27T02:20:35Z</dcterms:created>
  <dcterms:modified xsi:type="dcterms:W3CDTF">2026-08-27T02:31:11Z</dcterms:modified>
</cp:coreProperties>
</file>