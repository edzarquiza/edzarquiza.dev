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137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695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frame: this is a simulated ITSM business case built in Power BI. The point of the next ten minutes is not the dashboard — it is where the operation is under pressure and what leadership should look at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tension. Volume by itself is not a management problem — the gap between 63.42% and the 70% target is. Everything that follows answers one question: where is that pressure coming from? Note the sequence at the bottom: the dashboard came last, after profiling, modelling, measuring and validating.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first: 24,918 incidents. Then the gap: 63.42% success, 36.58% missed, against a 70% target. The trend on the right matters more than the single number — performance crosses the target line repeatedly rather than sitting above it, so this is a consistency problem, not a one-month dip.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interpretation moment. An eight-fold gap between mean and median says the distribution is skewed, not that the operation is slow. The typical incident closes in about a day; a smaller population of long-running incidents pulls the average out to 178 hours. Reporting the mean alone would misrepresent the service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on the left looked wrong the first time I saw them. Rather than assuming a broken measure, I checked the incident and SLA counts underneath and confirmed the results. Two caveats go with them: the cause is not established here, and the High and Critical populations are small relative to Moderate, which is about 94% of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Nearly half the workload changes hands before it is resolved. That is a signal worth investigating — routing, ownership, skill alignment, escalation — not evidence of poor service. Note the safeguard: a group with six incidents can show 100% reassignment, so the ranking only includes groups above a minimum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is concentrated, which makes it a prioritisation opportunity rather than a problem statement. A large category is where prevention or self-service would reach the most incidents — but volume on its own says nothing about whether that category is performing badly. Subcategory analysis is where this becomes actionable: password and account issues is the single biggest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principle behind the whole report. Optimising one KPI in isolation will move the wrong thing. And to be explicit about the limits: none of this establishes cause. What it does give leadership is a defensible shortlist of where to investigate.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action here traces back to a specific number on the earlier slides — nothing generic. The three HIGH items are where I would start: overall SLA exposure, the High and Critical population, and the long-running tail. Reassignment and category work are real but second-order. The last row is the standing measure, not a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question, not on thanks. The value of this work is that it turns a large incident dataset into a defensible shortlist of where to look first — and it is honest about what it cannot 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72"/>
          <p:cNvSpPr txBox="1"/>
          <p:nvPr/>
        </p:nvSpPr>
        <p:spPr>
          <a:xfrm>
            <a:off x="640080" y="1508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PORTFOLIO CASE STUDY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640080" y="19202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Performance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Operational Analysis</a:t>
            </a:r>
            <a:endParaRPr lang="en-US" sz="4600" dirty="0"/>
          </a:p>
        </p:txBody>
      </p:sp>
      <p:sp>
        <p:nvSpPr>
          <p:cNvPr id="76" name="Shape 74"/>
          <p:cNvSpPr/>
          <p:nvPr/>
        </p:nvSpPr>
        <p:spPr>
          <a:xfrm>
            <a:off x="640080" y="3840480"/>
            <a:ext cx="1005840" cy="45720"/>
          </a:xfrm>
          <a:prstGeom prst="rect">
            <a:avLst/>
          </a:prstGeom>
          <a:solidFill>
            <a:srgbClr val="FFC933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640080" y="41148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Power BI to identify SLA pressure, resolution inefficiency,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operational workload.</a:t>
            </a:r>
            <a:endParaRPr lang="en-US" sz="1600" dirty="0"/>
          </a:p>
        </p:txBody>
      </p:sp>
      <p:sp>
        <p:nvSpPr>
          <p:cNvPr id="78" name="Text 76"/>
          <p:cNvSpPr txBox="1"/>
          <p:nvPr/>
        </p:nvSpPr>
        <p:spPr>
          <a:xfrm>
            <a:off x="640080" y="574243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 Management  ·  Power BI Portfolio Case Study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640080" y="59984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Jon Arquiza  ·  2026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640080" y="63093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business scenario using a historical IT service management incident dataset.</a:t>
            </a:r>
            <a:endParaRPr lang="en-US" sz="900" dirty="0"/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381" y="1783080"/>
            <a:ext cx="4968932" cy="33126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39" y="713232"/>
            <a:ext cx="10728655" cy="987552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IT operation under pressure?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719072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handles a large incident workload — but only </a:t>
            </a:r>
            <a:r>
              <a:rPr lang="en-US" sz="17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63.42%</a:t>
            </a:r>
            <a:r>
              <a:rPr lang="en-US" sz="17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incidents meet SLA against a </a:t>
            </a:r>
            <a:r>
              <a:rPr lang="en-US" sz="1700" b="1" dirty="0">
                <a:solidFill>
                  <a:srgbClr val="0A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target</a:t>
            </a:r>
            <a:r>
              <a:rPr lang="en-US" sz="17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57984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volume alone doesn't tell management where operational pressure is occurring.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392424" cy="1463040"/>
          </a:xfrm>
          <a:prstGeom prst="roundRect">
            <a:avLst>
              <a:gd name="adj" fmla="val 3750"/>
            </a:avLst>
          </a:prstGeom>
          <a:solidFill>
            <a:srgbClr val="F0F4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1012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meeting service expectations?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98264" y="2743200"/>
            <a:ext cx="3392424" cy="1463040"/>
          </a:xfrm>
          <a:prstGeom prst="roundRect">
            <a:avLst>
              <a:gd name="adj" fmla="val 3750"/>
            </a:avLst>
          </a:prstGeom>
          <a:solidFill>
            <a:srgbClr val="F0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2584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331012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resolution becoming inefficient?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56448" y="2743200"/>
            <a:ext cx="3392424" cy="1463040"/>
          </a:xfrm>
          <a:prstGeom prst="roundRect">
            <a:avLst>
              <a:gd name="adj" fmla="val 3750"/>
            </a:avLst>
          </a:prstGeom>
          <a:solidFill>
            <a:srgbClr val="F0F4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30768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331012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operational effort concentrated?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453128"/>
            <a:ext cx="91440" cy="91440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37083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connects workload, SLA performance, resolution efficiency, priority, and operational behavior.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029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ANALYSIS PROGRESSED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5321808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0F4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321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5321808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94560" y="5321808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0F4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194560" y="5321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5321808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49040" y="5321808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0F4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49040" y="5321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321808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03520" y="5321808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0F4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303520" y="5321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5321808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0" y="5321808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0D213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5321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C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5321808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12480" y="5321808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0F4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12480" y="5321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784080" y="5321808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966960" y="5321808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0F4F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966960" y="5321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833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was not the starting point — the business question and the data profile were.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138160" y="63550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Performance &amp; Operational Analysis  ·  2</a:t>
            </a:r>
            <a:endParaRPr lang="en-US" sz="850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7390"/>
            <a:ext cx="814508" cy="543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PICTURE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28655" cy="118872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lIns="0" tIns="0" rIns="0" bIns="0" rtlCol="0" anchor="t"/>
          <a:lstStyle>
            <a:lvl1pPr indent="0">
              <a:buNone/>
              <a:defRPr sz="3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The operation handles significant demand — but SLA performance is below target.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92424" cy="1188720"/>
          </a:xfrm>
          <a:prstGeom prst="roundRect">
            <a:avLst>
              <a:gd name="adj" fmla="val 4615"/>
            </a:avLst>
          </a:prstGeom>
          <a:solidFill>
            <a:srgbClr val="F0F4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214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24,918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24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1188720"/>
          </a:xfrm>
          <a:prstGeom prst="roundRect">
            <a:avLst>
              <a:gd name="adj" fmla="val 4615"/>
            </a:avLst>
          </a:prstGeom>
          <a:solidFill>
            <a:srgbClr val="F0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72584" y="21214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63.42%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724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SUCCESS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56448" y="1965960"/>
            <a:ext cx="3392424" cy="1188720"/>
          </a:xfrm>
          <a:prstGeom prst="roundRect">
            <a:avLst>
              <a:gd name="adj" fmla="val 4615"/>
            </a:avLst>
          </a:prstGeom>
          <a:solidFill>
            <a:srgbClr val="F0F4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30768" y="21214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36.58%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2724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SLA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93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SUCCESS AGAINST THE 70% 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6400800" cy="475488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913632"/>
            <a:ext cx="4059387" cy="475488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2352" y="3785616"/>
            <a:ext cx="41148" cy="731520"/>
          </a:xfrm>
          <a:prstGeom prst="rect">
            <a:avLst/>
          </a:prstGeom>
          <a:solidFill>
            <a:srgbClr val="FFC9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9136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63.42% MET SLA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TARGET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36.58% missed SLA — a gap of 6.58 points below the defined target.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75504"/>
            <a:ext cx="91440" cy="91440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50292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incidents met SLA than missed it, but overall performance remains below the defined 70% target — and monthly performance moves either side of it rather than settling above.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88352" y="3867912"/>
            <a:ext cx="4224528" cy="1435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</p:spPr>
      </p:sp>
      <p:pic>
        <p:nvPicPr>
          <p:cNvPr id="23" name="Image 0" descr="crops/sla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931920"/>
            <a:ext cx="4096512" cy="130759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452360" y="5413248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SLA success against the 70% reference line — Incident Command Center.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138160" y="63550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Performance &amp; Operational Analysis  ·  3</a:t>
            </a:r>
            <a:endParaRPr lang="en-US" sz="85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7390"/>
            <a:ext cx="814508" cy="543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EFFICIENCY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28655" cy="91440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lIns="0" tIns="0" rIns="0" bIns="0" rtlCol="0" anchor="t"/>
          <a:lstStyle>
            <a:lvl1pPr indent="0">
              <a:buNone/>
              <a:defRPr sz="3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The average resolution time hides a long-running tail.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640080" y="2029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(MEAN)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304288"/>
            <a:ext cx="4114800" cy="5303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919472" y="23042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178.17 hrs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272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(MEDIAN)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510395" cy="530352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19472" y="34015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22.10 hrs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0050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drawn to the same scale.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6080760" cy="1207008"/>
          </a:xfrm>
          <a:prstGeom prst="roundRect">
            <a:avLst>
              <a:gd name="adj" fmla="val 4545"/>
            </a:avLst>
          </a:prstGeom>
          <a:solidFill>
            <a:srgbClr val="F0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57200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average so high?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919472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number of long-running incidents materially influence the mean. Both measures are kept in the dashboard rather than relying on the average alone.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870448"/>
            <a:ext cx="91440" cy="91440"/>
          </a:xfrm>
          <a:prstGeom prst="rect">
            <a:avLst/>
          </a:prstGeom>
          <a:solidFill>
            <a:srgbClr val="FFC9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57881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resolution time alone does not represent the typical incident experience.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59752" y="2039112"/>
            <a:ext cx="4453128" cy="232257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</p:spPr>
      </p:sp>
      <p:pic>
        <p:nvPicPr>
          <p:cNvPr id="17" name="Image 0" descr="crops/res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103120"/>
            <a:ext cx="4325112" cy="21945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223760" y="443484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Resolution-time bands, met vs missed SLA — Service Performance Deep Dive.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4956048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duration is an important part of the SLA story, particularly among longer-running incidents — which is why resolution time is analysed in bands as well as averages.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63550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Performance &amp; Operational Analysis  ·  4</a:t>
            </a:r>
            <a:endParaRPr lang="en-US" sz="85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7390"/>
            <a:ext cx="814508" cy="543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PERFORMANCE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28655" cy="91440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lIns="0" tIns="0" rIns="0" bIns="0" rtlCol="0" anchor="t"/>
          <a:lstStyle>
            <a:lvl1pPr indent="0">
              <a:buNone/>
              <a:defRPr sz="3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SLA pressure varies sharply across priority levels.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640080" y="19751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9751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2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9751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SUCCESS RATE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6400800" cy="10973"/>
          </a:xfrm>
          <a:prstGeom prst="rect">
            <a:avLst/>
          </a:prstGeom>
          <a:solidFill>
            <a:srgbClr val="DCE3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865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3865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incidents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2459736"/>
            <a:ext cx="2377440" cy="237744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11" name="Shape 9"/>
          <p:cNvSpPr/>
          <p:nvPr/>
        </p:nvSpPr>
        <p:spPr>
          <a:xfrm>
            <a:off x="3063240" y="2459736"/>
            <a:ext cx="43983" cy="237744"/>
          </a:xfrm>
          <a:prstGeom prst="rect">
            <a:avLst/>
          </a:prstGeom>
          <a:solidFill>
            <a:srgbClr val="FFC9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77840" y="23865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990088"/>
            <a:ext cx="6400800" cy="10973"/>
          </a:xfrm>
          <a:prstGeom prst="rect">
            <a:avLst/>
          </a:prstGeom>
          <a:solidFill>
            <a:srgbClr val="DCE3E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1181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11810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 incidents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3240" y="3191256"/>
            <a:ext cx="2377440" cy="237744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17" name="Shape 15"/>
          <p:cNvSpPr/>
          <p:nvPr/>
        </p:nvSpPr>
        <p:spPr>
          <a:xfrm>
            <a:off x="3063240" y="3191256"/>
            <a:ext cx="32004" cy="237744"/>
          </a:xfrm>
          <a:prstGeom prst="rect">
            <a:avLst/>
          </a:prstGeom>
          <a:solidFill>
            <a:srgbClr val="FFC9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77840" y="31181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21608"/>
            <a:ext cx="6400800" cy="10973"/>
          </a:xfrm>
          <a:prstGeom prst="rect">
            <a:avLst/>
          </a:prstGeom>
          <a:solidFill>
            <a:srgbClr val="DCE3E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8496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84962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23,466 incidents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3922776"/>
            <a:ext cx="2377440" cy="237744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23" name="Shape 21"/>
          <p:cNvSpPr/>
          <p:nvPr/>
        </p:nvSpPr>
        <p:spPr>
          <a:xfrm>
            <a:off x="3063240" y="3922776"/>
            <a:ext cx="1534400" cy="237744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577840" y="38496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64.54%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453128"/>
            <a:ext cx="6400800" cy="10973"/>
          </a:xfrm>
          <a:prstGeom prst="rect">
            <a:avLst/>
          </a:prstGeom>
          <a:solidFill>
            <a:srgbClr val="DCE3E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5811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58114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774 incidents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63240" y="4654296"/>
            <a:ext cx="2377440" cy="237744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29" name="Shape 27"/>
          <p:cNvSpPr/>
          <p:nvPr/>
        </p:nvSpPr>
        <p:spPr>
          <a:xfrm>
            <a:off x="3063240" y="4654296"/>
            <a:ext cx="1999665" cy="237744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577840" y="45811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84.11%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5541264"/>
            <a:ext cx="91440" cy="91440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1248" y="544068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accounts for roughly 94% of all incidents. The High and Critical populations are much smaller, so their rates should not be read the same way as the dominant Moderate population.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360920" y="1874520"/>
            <a:ext cx="4187952" cy="4114800"/>
          </a:xfrm>
          <a:prstGeom prst="roundRect">
            <a:avLst>
              <a:gd name="adj" fmla="val 1333"/>
            </a:avLst>
          </a:prstGeom>
          <a:solidFill>
            <a:srgbClr val="F0F4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35240" y="2084832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kern="0" spc="6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UNEXPECTED RESULT TRIGGERED AN INVESTIGATION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635240" y="2670048"/>
            <a:ext cx="36393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635240" y="267004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0A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RESULT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635240" y="299923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35240" y="3182112"/>
            <a:ext cx="36393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635240" y="318211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UNDERLYING COUNTS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635240" y="351129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35240" y="3694176"/>
            <a:ext cx="36393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635240" y="369417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CALCULATION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635240" y="402336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635240" y="4206240"/>
            <a:ext cx="36393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635240" y="420624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RESULT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635240" y="453542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35240" y="4718304"/>
            <a:ext cx="36393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635240" y="471830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CAREFULLY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635240" y="507492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unusually low High and Critical results were checked against the underlying incident and SLA counts — and confirmed.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635240" y="5650992"/>
            <a:ext cx="91440" cy="91440"/>
          </a:xfrm>
          <a:prstGeom prst="rect">
            <a:avLst/>
          </a:prstGeom>
          <a:solidFill>
            <a:srgbClr val="FFC933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836408" y="5568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result  ·  cause not established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138160" y="63550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Performance &amp; Operational Analysis  ·  5</a:t>
            </a:r>
            <a:endParaRPr lang="en-US" sz="850" dirty="0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7390"/>
            <a:ext cx="814508" cy="543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FRICTION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28655" cy="91440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lIns="0" tIns="0" rIns="0" bIns="0" rtlCol="0" anchor="t"/>
          <a:lstStyle>
            <a:lvl1pPr indent="0">
              <a:buNone/>
              <a:defRPr sz="3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What does a 45.63% reassignment rate actually tell us?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45.63%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incidents were reassigned at least once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364992"/>
            <a:ext cx="731520" cy="18288"/>
          </a:xfrm>
          <a:prstGeom prst="rect">
            <a:avLst/>
          </a:prstGeom>
          <a:solidFill>
            <a:srgbClr val="DCE3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 incidents — repeat activity after an incident was considered resolved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F0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4791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Reassigned = reassignment_count &gt; 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50840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DAX measure, evaluated within the report's date and assignment-group filter context.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084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kern="0" spc="110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POTENTIAL OPERATIONAL SIGNAL — INVESTIGATE: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2615184"/>
            <a:ext cx="3017520" cy="438912"/>
          </a:xfrm>
          <a:prstGeom prst="roundRect">
            <a:avLst>
              <a:gd name="adj" fmla="val 10417"/>
            </a:avLst>
          </a:prstGeom>
          <a:solidFill>
            <a:srgbClr val="F0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0" y="26151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routing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0520" y="3163824"/>
            <a:ext cx="3017520" cy="438912"/>
          </a:xfrm>
          <a:prstGeom prst="roundRect">
            <a:avLst>
              <a:gd name="adj" fmla="val 10417"/>
            </a:avLst>
          </a:prstGeom>
          <a:solidFill>
            <a:srgbClr val="F0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0" y="316382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60520" y="3712464"/>
            <a:ext cx="3017520" cy="438912"/>
          </a:xfrm>
          <a:prstGeom prst="roundRect">
            <a:avLst>
              <a:gd name="adj" fmla="val 10417"/>
            </a:avLst>
          </a:prstGeom>
          <a:solidFill>
            <a:srgbClr val="F0F4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89120" y="371246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alignment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60520" y="4261104"/>
            <a:ext cx="3017520" cy="438912"/>
          </a:xfrm>
          <a:prstGeom prst="roundRect">
            <a:avLst>
              <a:gd name="adj" fmla="val 10417"/>
            </a:avLst>
          </a:prstGeom>
          <a:solidFill>
            <a:srgbClr val="F0F4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89120" y="426110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0520" y="4956048"/>
            <a:ext cx="91440" cy="91440"/>
          </a:xfrm>
          <a:prstGeom prst="rect">
            <a:avLst/>
          </a:prstGeom>
          <a:solidFill>
            <a:srgbClr val="FFC9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61688" y="48646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Reassignment does not prove poor service or establish causation. It shows where work changed hands.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16952" y="1993392"/>
            <a:ext cx="3995928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</p:spPr>
      </p:sp>
      <p:pic>
        <p:nvPicPr>
          <p:cNvPr id="24" name="Image 0" descr="crops/reassign_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057400"/>
            <a:ext cx="3867912" cy="155448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680960" y="3712464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reassignment rates by assignment group — Incident Root Cause &amp; Workload Analysis.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680960" y="4279392"/>
            <a:ext cx="3867912" cy="1691640"/>
          </a:xfrm>
          <a:prstGeom prst="roundRect">
            <a:avLst>
              <a:gd name="adj" fmla="val 3243"/>
            </a:avLst>
          </a:prstGeom>
          <a:solidFill>
            <a:srgbClr val="0D2137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909560" y="4434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FFC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SAFEGUARD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909560" y="4709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percentages are not always meaningful.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909560" y="523036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with few incidents can reach 100%. The ranking applies a minimum incident-volume threshold so groups are compared on a stable base.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63550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Performance &amp; Operational Analysis  ·  6</a:t>
            </a:r>
            <a:endParaRPr lang="en-US" sz="85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7390"/>
            <a:ext cx="814508" cy="543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CONCENTRATION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28655" cy="914400"/>
          </a:xfrm>
          <a:prstGeom prst="rect">
            <a:avLst/>
          </a:prstGeom>
          <a:solidFill>
            <a:srgbClr val="0D2137"/>
          </a:solidFill>
          <a:ln>
            <a:solidFill>
              <a:schemeClr val="bg1">
                <a:lumMod val="75000"/>
              </a:schemeClr>
            </a:solidFill>
          </a:ln>
          <a:effectLst>
            <a:softEdge rad="12700"/>
          </a:effectLst>
        </p:spPr>
        <p:txBody>
          <a:bodyPr wrap="square" lIns="0" tIns="0" rIns="0" bIns="0" rtlCol="0" anchor="t"/>
          <a:lstStyle>
            <a:lvl1pPr indent="0">
              <a:buNone/>
              <a:defRPr sz="3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Where could improvement effort affect the most demand?</a:t>
            </a:r>
          </a:p>
        </p:txBody>
      </p:sp>
      <p:sp>
        <p:nvSpPr>
          <p:cNvPr id="4" name="Shape 2"/>
          <p:cNvSpPr/>
          <p:nvPr/>
        </p:nvSpPr>
        <p:spPr>
          <a:xfrm>
            <a:off x="576072" y="1993392"/>
            <a:ext cx="6620256" cy="30998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</p:spPr>
      </p:sp>
      <p:pic>
        <p:nvPicPr>
          <p:cNvPr id="5" name="Image 0" descr="crops/cat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6492240" cy="2971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13892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volume by category — Incident Root Cause &amp; Workload Analysis. Category names are simulated business-friendly labels created for portfolio presentation.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011680"/>
            <a:ext cx="4050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— Identity &amp; Authentication, Software Support, Access &amp; Permissions and Database Services — account for the largest share of incident demand.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971800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categories represent potential opportunities for targeted prevention, self-service, documentation, or process improvement.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0" y="3840480"/>
            <a:ext cx="4050792" cy="658368"/>
          </a:xfrm>
          <a:prstGeom prst="roundRect">
            <a:avLst>
              <a:gd name="adj" fmla="val 6944"/>
            </a:avLst>
          </a:prstGeom>
          <a:solidFill>
            <a:srgbClr val="F0F4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26680" y="384048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alone does not indicate poor performance.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4645152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kern="0" spc="60" dirty="0">
                <a:solidFill>
                  <a:srgbClr val="0A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VOLUME  +  SERVICE PERFORMANCE  +  OPERATIONAL SIGNALS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510235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considered together before a category is called a problem.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98080" y="5586984"/>
            <a:ext cx="91440" cy="91440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99248" y="5495544"/>
            <a:ext cx="3849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 analysis narrows this further: Password &amp; Account Issues is the single largest source of demand.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63550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Performance &amp; Operational Analysis  ·  7</a:t>
            </a:r>
            <a:endParaRPr lang="en-US" sz="8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7390"/>
            <a:ext cx="814508" cy="543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PRINCIPLE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28655" cy="914400"/>
          </a:xfrm>
          <a:prstGeom prst="rect">
            <a:avLst/>
          </a:prstGeom>
          <a:solidFill>
            <a:srgbClr val="0D2137"/>
          </a:solidFill>
          <a:ln>
            <a:solidFill>
              <a:schemeClr val="bg1">
                <a:lumMod val="75000"/>
              </a:schemeClr>
            </a:solidFill>
          </a:ln>
          <a:effectLst>
            <a:softEdge rad="12700"/>
          </a:effectLst>
        </p:spPr>
        <p:txBody>
          <a:bodyPr wrap="square" lIns="0" tIns="0" rIns="0" bIns="0" rtlCol="0" anchor="t"/>
          <a:lstStyle>
            <a:lvl1pPr indent="0">
              <a:buNone/>
              <a:defRPr sz="3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No single KPI explains where to act.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TOGETHER, NOT IN ISOLATION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2432304"/>
            <a:ext cx="91440" cy="91440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23317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98064"/>
            <a:ext cx="91440" cy="91440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2697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63824"/>
            <a:ext cx="91440" cy="91440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9536" y="3063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VOLUME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91440" cy="91440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3429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91440" cy="91440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61104"/>
            <a:ext cx="91440" cy="91440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ASSIGNMENT GROUP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26864"/>
            <a:ext cx="5394960" cy="475488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62686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BETTER OPERATIONAL CONTEXT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852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with poor SLA performance is not necessarily the same operational problem as a group with poor SLA performance AND slow resolution AND high workload.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1920240"/>
            <a:ext cx="5102352" cy="2011680"/>
          </a:xfrm>
          <a:prstGeom prst="roundRect">
            <a:avLst>
              <a:gd name="adj" fmla="val 2727"/>
            </a:avLst>
          </a:prstGeom>
          <a:solidFill>
            <a:srgbClr val="F0F4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693408" y="2157984"/>
            <a:ext cx="91440" cy="91440"/>
          </a:xfrm>
          <a:prstGeom prst="rect">
            <a:avLst/>
          </a:prstGeom>
          <a:solidFill>
            <a:srgbClr val="FFC9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94576" y="20848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DOES NOT PROVE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239572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Reassignment causes SLA failure.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incidents are the cause of SLA problems.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 incidents automatically indicate poor service.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categories are necessarily inefficient.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46520" y="4160520"/>
            <a:ext cx="5102352" cy="1737360"/>
          </a:xfrm>
          <a:prstGeom prst="roundRect">
            <a:avLst>
              <a:gd name="adj" fmla="val 3158"/>
            </a:avLst>
          </a:prstGeom>
          <a:solidFill>
            <a:srgbClr val="0D2137"/>
          </a:solidFill>
          <a:ln/>
        </p:spPr>
      </p:sp>
      <p:sp>
        <p:nvSpPr>
          <p:cNvPr id="25" name="Shape 23"/>
          <p:cNvSpPr/>
          <p:nvPr/>
        </p:nvSpPr>
        <p:spPr>
          <a:xfrm>
            <a:off x="6693408" y="4407408"/>
            <a:ext cx="91440" cy="91440"/>
          </a:xfrm>
          <a:prstGeom prst="rect">
            <a:avLst/>
          </a:prstGeom>
          <a:solidFill>
            <a:srgbClr val="0FA69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94576" y="43342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ANALYSIS DOES PROVIDE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470001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 ·  Comparisons  ·  Outliers  ·  Operational signals  ·  Areas for further investigation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5440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is not causation — the dashboard points to where to look.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63550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Performance &amp; Operational Analysis  ·  8</a:t>
            </a:r>
            <a:endParaRPr lang="en-US" sz="85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7390"/>
            <a:ext cx="814508" cy="543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FINDINGS TO ACTION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28655" cy="914400"/>
          </a:xfrm>
          <a:prstGeom prst="rect">
            <a:avLst/>
          </a:prstGeom>
          <a:solidFill>
            <a:srgbClr val="0D2137"/>
          </a:solidFill>
          <a:ln>
            <a:solidFill>
              <a:schemeClr val="bg1">
                <a:lumMod val="75000"/>
              </a:schemeClr>
            </a:solidFill>
          </a:ln>
          <a:effectLst>
            <a:softEdge rad="12700"/>
          </a:effectLst>
        </p:spPr>
        <p:txBody>
          <a:bodyPr wrap="square" lIns="0" tIns="0" rIns="0" bIns="0" rtlCol="0" anchor="t"/>
          <a:lstStyle>
            <a:lvl1pPr indent="0">
              <a:buNone/>
              <a:defRPr sz="3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Where should management focus first?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783080" y="18288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617720" y="18288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82880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10911535" cy="10973"/>
          </a:xfrm>
          <a:prstGeom prst="rect">
            <a:avLst/>
          </a:prstGeom>
          <a:solidFill>
            <a:srgbClr val="DCE3E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1343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FC9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313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24942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63.42% SLA success against a 70% target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2494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6.58 points below the defined target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249424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SLA exposure by priority, assignment group and resolution-time band.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816352"/>
            <a:ext cx="10911535" cy="10973"/>
          </a:xfrm>
          <a:prstGeom prst="rect">
            <a:avLst/>
          </a:prstGeom>
          <a:solidFill>
            <a:srgbClr val="DCE3E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9718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FC9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971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29077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1.85% Critical and 0.49% High SLA success — validated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9077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severe incidents show the weakest SLA outcomes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907792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escalation, SLA definitions, workload and resolution bottlenecks for these priorities.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10911535" cy="10973"/>
          </a:xfrm>
          <a:prstGeom prst="rect">
            <a:avLst/>
          </a:prstGeom>
          <a:solidFill>
            <a:srgbClr val="DCE3E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63016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FC9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630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35661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178.17 hr mean vs 22.10 hr median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3566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population of long-running incidents influences the average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356616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investigate long-running incidents as a separate population.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133088"/>
            <a:ext cx="10911535" cy="10973"/>
          </a:xfrm>
          <a:prstGeom prst="rect">
            <a:avLst/>
          </a:prstGeom>
          <a:solidFill>
            <a:srgbClr val="DCE3E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288536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A69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4288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783080" y="42245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45.63% reassignment rate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4224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routing and ownership friction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680960" y="4224528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high-reassignment groups that clear the minimum volume threshold.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4791456"/>
            <a:ext cx="10911535" cy="10973"/>
          </a:xfrm>
          <a:prstGeom prst="rect">
            <a:avLst/>
          </a:prstGeom>
          <a:solidFill>
            <a:srgbClr val="DCE3E9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4946904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A69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4946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783080" y="488289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lead volume (3.6K down to 2.4K)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617720" y="48828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concentrated in a small number of categories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4882896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recurring categories for prevention, self-service and documentation.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5449824"/>
            <a:ext cx="10911535" cy="10973"/>
          </a:xfrm>
          <a:prstGeom prst="rect">
            <a:avLst/>
          </a:prstGeom>
          <a:solidFill>
            <a:srgbClr val="DCE3E9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" y="560527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DE5E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" y="5605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783080" y="554126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SLA target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617720" y="55412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6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performance moves either side of the target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680960" y="5541264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SLA performance against the 70% target.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6108192"/>
            <a:ext cx="10911535" cy="10973"/>
          </a:xfrm>
          <a:prstGeom prst="rect">
            <a:avLst/>
          </a:prstGeom>
          <a:solidFill>
            <a:srgbClr val="DCE3E9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138160" y="63550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4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Performance &amp; Operational Analysis  ·  9</a:t>
            </a:r>
            <a:endParaRPr lang="en-US" sz="850" dirty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7390"/>
            <a:ext cx="814508" cy="543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better operational decisions, not just better reporting.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108960" cy="18288"/>
          </a:xfrm>
          <a:prstGeom prst="rect">
            <a:avLst/>
          </a:prstGeom>
          <a:solidFill>
            <a:srgbClr val="1B3A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402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is below the 70% target.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98264" y="1691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98264" y="2103120"/>
            <a:ext cx="3108960" cy="18288"/>
          </a:xfrm>
          <a:prstGeom prst="rect">
            <a:avLst/>
          </a:prstGeom>
          <a:solidFill>
            <a:srgbClr val="1B3A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98264" y="22402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population of long-running incidents materially affects average resolution time.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56448" y="1691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56448" y="2103120"/>
            <a:ext cx="3108960" cy="18288"/>
          </a:xfrm>
          <a:prstGeom prst="rect">
            <a:avLst/>
          </a:prstGeom>
          <a:solidFill>
            <a:srgbClr val="1B3A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56448" y="22402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concentration and reassignment provide additional signals for prioritizing investigation.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20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C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we focus operational effort — and why?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434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 +  RESOLUTION EFFICIENCY  +  WORKLOAD  +  OPERATIONAL BEHAVIOR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73659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provide a stronger basis for prioritizing operational investigation than any single KPI.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9379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helps management identify where to investigate first — without assuming that the dashboard alone proves root cause.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852160"/>
            <a:ext cx="10911535" cy="18288"/>
          </a:xfrm>
          <a:prstGeom prst="rect">
            <a:avLst/>
          </a:prstGeom>
          <a:solidFill>
            <a:srgbClr val="1B3A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6035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6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 Power BI  ·  Power Query  ·  DAX  ·  Data Modeling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603504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Jon Arquiza</a:t>
            </a:r>
            <a:endParaRPr lang="en-US" sz="105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7390"/>
            <a:ext cx="814508" cy="543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1812</Words>
  <Application>Microsoft Office PowerPoint</Application>
  <PresentationFormat>Widescreen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Performance &amp; Operational Analysis</dc:title>
  <dc:subject>PptxGenJS Presentation</dc:subject>
  <dc:creator>Edward Jon Arquiza</dc:creator>
  <cp:lastModifiedBy>USER</cp:lastModifiedBy>
  <cp:revision>2</cp:revision>
  <dcterms:created xsi:type="dcterms:W3CDTF">2026-08-27T02:00:47Z</dcterms:created>
  <dcterms:modified xsi:type="dcterms:W3CDTF">2026-08-27T02:09:19Z</dcterms:modified>
</cp:coreProperties>
</file>