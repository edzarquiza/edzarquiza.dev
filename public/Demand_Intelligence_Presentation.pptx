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1769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connected pages, one analytical question: understand the past, identify the drivers, prepare for the future. January 2013 to December 2017, 10 stores, 50 products, 47.70M total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analytical brief in one line: total sales alone does not tell management whether growth is accelerating or slowing, who the key contributors are, or what to expect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first. Five numbers that frame the rest of the analysis. Then the four demand signals — these mirror exactly what the dashboard's Demand Signals panel shows.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trend line and the 3-month moving average tell different things: the trend shows the upward trajectory, the MA reveals that month-to-month demand is noisy but directionally consistent. The seasonal bar chart on the right makes the July peak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moderation story. Demand is at its highest level ever in 2017 at 11M, but the YoY growth rate is at its lowest at 3.64%. A management team watching only the total number would miss the slowdown. Both measures are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numbers: Store 02 at 6.12M and Product 15 at 1.61M. But the more important numbers are 36.5% and 31.4% — the concentration metrics. Both show demand is broadly supported, not dominated by one or two contributors.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concentration slide — the second most important analytical finding after the growth moderation story. The business is resilient by construction. 63.5% of demand from stores outside the top 3, 68.6% from products outside the top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forecast KPIs frame the chart: the latest actual demand, the 3-month trend, and the 12-month horizon. The shaded band is critical — it communicates uncertainty directly to the management audience. Note that the band widens toward the right of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monthly pattern is where seasonality becomes actionable — inventory preparation, staffing, promotions. The important caveat is on the right: this is a pattern-based estimate with widening uncertainty. The model has no awareness of promotions, pricing changes, or external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self-contained findings. The two concentration findings together tell the diversification story — both show that the remaining business (outside the top contributors) generates the majority of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traceable recommendations — every one cites the finding that generated it. The fourth covers forecast limitations directly, which is analytically honest and demonstrates maturity.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analytical framework, not on thanks. The five-step chain tells the complete story in sequence. The limitations on the left are not apologies — they are demonstrations of analytical maturity.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394960" cy="73152"/>
          </a:xfrm>
          <a:prstGeom prst="rect">
            <a:avLst/>
          </a:prstGeom>
          <a:solidFill>
            <a:srgbClr val="5C2DB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C8B8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POWER BI CASE STUDY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ontserrat SemiBold" pitchFamily="2" charset="0"/>
                <a:ea typeface="Calibri Light" pitchFamily="34" charset="-122"/>
                <a:cs typeface="Calibri Light" pitchFamily="34" charset="-120"/>
              </a:rPr>
              <a:t>DEMAND</a:t>
            </a:r>
            <a:endParaRPr lang="en-US" sz="4800" dirty="0">
              <a:latin typeface="Montserrat SemiBold" pitchFamily="2" charset="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ontserrat SemiBold" pitchFamily="2" charset="0"/>
                <a:ea typeface="Calibri Light" pitchFamily="34" charset="-122"/>
                <a:cs typeface="Calibri Light" pitchFamily="34" charset="-120"/>
              </a:rPr>
              <a:t>INTELLIGENCE</a:t>
            </a:r>
            <a:endParaRPr lang="en-US" sz="4800" dirty="0">
              <a:latin typeface="Montserrat SemiBold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3611880"/>
            <a:ext cx="822960" cy="45720"/>
          </a:xfrm>
          <a:prstGeom prst="rect">
            <a:avLst/>
          </a:prstGeom>
          <a:solidFill>
            <a:srgbClr val="5C2D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38221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A8B8E0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Retail Demand Analysis</a:t>
            </a:r>
            <a:endParaRPr lang="en-US" sz="1900" dirty="0">
              <a:latin typeface="Montserrat" pitchFamily="2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A8B8E0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&amp; Forecasting</a:t>
            </a:r>
            <a:endParaRPr lang="en-US" sz="1900" dirty="0">
              <a:latin typeface="Montserrat" pitchFamily="2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80C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January 2013 – December 2017  ·  10 Stores  ·  50 Products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5303520"/>
            <a:ext cx="4572000" cy="16459"/>
          </a:xfrm>
          <a:prstGeom prst="rect">
            <a:avLst/>
          </a:prstGeom>
          <a:solidFill>
            <a:srgbClr val="2A3F9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55046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80C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Power BI  ·  SQL Server  ·  DAX  ·  Data Modeling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57200" y="58338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Edward Jon Arquiza  ·  2026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57200" y="62362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880C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Simulated portfolio case study.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943600" y="47548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THE ANALYTICAL STORY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0" y="960120"/>
            <a:ext cx="5669280" cy="1481328"/>
          </a:xfrm>
          <a:prstGeom prst="rect">
            <a:avLst/>
          </a:prstGeom>
          <a:solidFill>
            <a:srgbClr val="F5F6FA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1612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2239E"/>
                </a:solidFill>
                <a:latin typeface="Montserrat SemiBold" pitchFamily="2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000" dirty="0">
              <a:latin typeface="Montserrat SemiBold" pitchFamily="2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784848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5C2DB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784848" y="14538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What happened to demand?</a:t>
            </a:r>
            <a:endParaRPr lang="en-US" sz="1700" dirty="0">
              <a:latin typeface="Montserrat" pitchFamily="2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784848" y="18379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Historical trends, growth, seasonality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43600" y="2624328"/>
            <a:ext cx="5669280" cy="1481328"/>
          </a:xfrm>
          <a:prstGeom prst="rect">
            <a:avLst/>
          </a:prstGeom>
          <a:solidFill>
            <a:srgbClr val="F5F6FA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282549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2239E"/>
                </a:solidFill>
                <a:latin typeface="Montserrat SemiBold" pitchFamily="2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000" dirty="0">
              <a:latin typeface="Montserrat SemiBold" pitchFamily="2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784848" y="2807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5C2DB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784848" y="311810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What is driving demand?</a:t>
            </a:r>
            <a:endParaRPr lang="en-US" sz="1700" dirty="0">
              <a:latin typeface="Montserrat" pitchFamily="2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784848" y="35021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Store &amp; product contributors, concentration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43600" y="4288536"/>
            <a:ext cx="5669280" cy="1481328"/>
          </a:xfrm>
          <a:prstGeom prst="rect">
            <a:avLst/>
          </a:prstGeom>
          <a:solidFill>
            <a:srgbClr val="F5F6FA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72200" y="44897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2239E"/>
                </a:solidFill>
                <a:latin typeface="Montserrat SemiBold" pitchFamily="2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000" dirty="0">
              <a:latin typeface="Montserrat SemiBold" pitchFamily="2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784848" y="44714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5C2DB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784848" y="47823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What might happen next?</a:t>
            </a:r>
            <a:endParaRPr lang="en-US" sz="1700" dirty="0">
              <a:latin typeface="Montserrat" pitchFamily="2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6784848" y="5166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12-month outlook, confidence intervals</a:t>
            </a:r>
            <a:endParaRPr lang="en-US" sz="11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01</a:t>
            </a:r>
            <a:r>
              <a:rPr lang="en-US" sz="1000" kern="0" spc="14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 ·  THE BUSINESS QUESTION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94360" y="694944"/>
            <a:ext cx="10820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A retail business needs more than a headline sales number.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719072"/>
            <a:ext cx="11002975" cy="16459"/>
          </a:xfrm>
          <a:prstGeom prst="rect">
            <a:avLst/>
          </a:prstGeom>
          <a:solidFill>
            <a:srgbClr val="DDE2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87452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Total sales data is available — but decision-makers need to understand how demand changed over time, which stores and products contribute most, and what demand patterns may be expected in the future.</a:t>
            </a:r>
            <a:endParaRPr lang="en-US" sz="1350" dirty="0">
              <a:latin typeface="Montserrat" pitchFamily="2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94360" y="27432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FOUR KEY BUSINESS QUESTIONS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3191256"/>
            <a:ext cx="274320" cy="27432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014984" y="310896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How has demand changed over time — and is growth accelerating or slowing?</a:t>
            </a:r>
            <a:endParaRPr lang="en-US" sz="135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4360" y="3758184"/>
            <a:ext cx="274320" cy="27432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014984" y="367588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Which stores and products contribute most to overall demand?</a:t>
            </a:r>
            <a:endParaRPr lang="en-US" sz="135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4325112"/>
            <a:ext cx="274320" cy="27432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014984" y="4242816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Is demand concentrated among a few contributors, or broadly distributed?</a:t>
            </a:r>
            <a:endParaRPr lang="en-US" sz="1350" dirty="0">
              <a:latin typeface="Montserra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4360" y="4892040"/>
            <a:ext cx="274320" cy="27432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892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014984" y="4809744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What demand patterns can be expected over the next 12 months?</a:t>
            </a:r>
            <a:endParaRPr lang="en-US" sz="1350" dirty="0">
              <a:latin typeface="Montserrat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635240" y="1828800"/>
            <a:ext cx="3959352" cy="4315968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82128" y="20848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8B8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ANALYTICAL FLOW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882128" y="2514600"/>
            <a:ext cx="3474720" cy="868680"/>
          </a:xfrm>
          <a:prstGeom prst="rect">
            <a:avLst/>
          </a:prstGeom>
          <a:solidFill>
            <a:srgbClr val="1A2F9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65008" y="26060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C8B8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8065008" y="28986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Understand historical demand, growth, and seasonal patterns.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882128" y="3611880"/>
            <a:ext cx="3474720" cy="868680"/>
          </a:xfrm>
          <a:prstGeom prst="rect">
            <a:avLst/>
          </a:prstGeom>
          <a:solidFill>
            <a:srgbClr val="1A2F9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65008" y="37033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C8B8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8065008" y="39959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Identify the stores and products contributing to demand.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882128" y="4709160"/>
            <a:ext cx="3474720" cy="868680"/>
          </a:xfrm>
          <a:prstGeom prst="rect">
            <a:avLst/>
          </a:prstGeom>
          <a:solidFill>
            <a:srgbClr val="5C2DB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65008" y="4800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C8B8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8065008" y="50932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Examine expected future demand and forecast uncertainty.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7882128" y="56235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A8B8E0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Understand the Past → Identify the Drivers → Prepare for the Future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7132320" y="6391656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Demand Intelligence  ·  Retail Demand Analysis &amp; Forecasting  ·  2</a:t>
            </a:r>
            <a:endParaRPr lang="en-US" sz="8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02</a:t>
            </a:r>
            <a:r>
              <a:rPr lang="en-US" sz="1000" kern="0" spc="14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 ·  DEMAND OVERVIEW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94360" y="694944"/>
            <a:ext cx="10820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47.70M in total demand across 10 stores and 50 products, 2013–2017.</a:t>
            </a:r>
            <a:endParaRPr lang="en-US" sz="2800" dirty="0">
              <a:latin typeface="Montserrat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719072"/>
            <a:ext cx="11002975" cy="16459"/>
          </a:xfrm>
          <a:prstGeom prst="rect">
            <a:avLst/>
          </a:prstGeom>
          <a:solidFill>
            <a:srgbClr val="DDE2F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901952"/>
            <a:ext cx="2029968" cy="1353312"/>
          </a:xfrm>
          <a:prstGeom prst="rect">
            <a:avLst/>
          </a:prstGeom>
          <a:solidFill>
            <a:srgbClr val="FFFFFF"/>
          </a:solidFill>
          <a:ln w="7620">
            <a:solidFill>
              <a:srgbClr val="DDE2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2084832"/>
            <a:ext cx="1737360" cy="703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47.70M</a:t>
            </a:r>
            <a:endParaRPr lang="en-US" sz="2600" dirty="0">
              <a:latin typeface="Montserrat" pitchFamily="2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95528" y="2713939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TOTAL DEMAND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95528" y="29710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Jan 2013 – Dec 2017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07208" y="1901952"/>
            <a:ext cx="2029968" cy="1353312"/>
          </a:xfrm>
          <a:prstGeom prst="rect">
            <a:avLst/>
          </a:prstGeom>
          <a:solidFill>
            <a:srgbClr val="FFFFFF"/>
          </a:solidFill>
          <a:ln w="7620">
            <a:solidFill>
              <a:srgbClr val="DDE2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08376" y="2084832"/>
            <a:ext cx="1737360" cy="703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B2F8F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3.64%</a:t>
            </a:r>
            <a:endParaRPr lang="en-US" sz="2600" dirty="0">
              <a:latin typeface="Montserrat" pitchFamily="2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008376" y="2713939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008376" y="29710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2017 (latest year)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0056" y="1901952"/>
            <a:ext cx="2029968" cy="1353312"/>
          </a:xfrm>
          <a:prstGeom prst="rect">
            <a:avLst/>
          </a:prstGeom>
          <a:solidFill>
            <a:srgbClr val="FFFFFF"/>
          </a:solidFill>
          <a:ln w="7620">
            <a:solidFill>
              <a:srgbClr val="DDE2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21224" y="2084832"/>
            <a:ext cx="1737360" cy="703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26.13K</a:t>
            </a:r>
            <a:endParaRPr lang="en-US" sz="2600" dirty="0">
              <a:latin typeface="Montserrat" pitchFamily="2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221224" y="2713939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AVG DAILY DEMAND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221224" y="29710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Per day across period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232904" y="1901952"/>
            <a:ext cx="2029968" cy="1353312"/>
          </a:xfrm>
          <a:prstGeom prst="rect">
            <a:avLst/>
          </a:prstGeom>
          <a:solidFill>
            <a:srgbClr val="FFFFFF"/>
          </a:solidFill>
          <a:ln w="7620">
            <a:solidFill>
              <a:srgbClr val="DDE2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34072" y="2084832"/>
            <a:ext cx="1737360" cy="703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2600" dirty="0">
              <a:latin typeface="Montserrat" pitchFamily="2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7434072" y="2713939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7434072" y="29710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All contributing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445752" y="1901952"/>
            <a:ext cx="2029968" cy="1353312"/>
          </a:xfrm>
          <a:prstGeom prst="rect">
            <a:avLst/>
          </a:prstGeom>
          <a:solidFill>
            <a:srgbClr val="FFFFFF"/>
          </a:solidFill>
          <a:ln w="7620">
            <a:solidFill>
              <a:srgbClr val="DDE2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46920" y="2084832"/>
            <a:ext cx="1737360" cy="703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50</a:t>
            </a:r>
            <a:endParaRPr lang="en-US" sz="2600" dirty="0">
              <a:latin typeface="Montserrat" pitchFamily="2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9646920" y="2713939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9646920" y="29710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Broad portfolio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594360" y="3456432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DEMAND SIGNALS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94360" y="3822192"/>
            <a:ext cx="5212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822192"/>
            <a:ext cx="36576" cy="96012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3950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STRONGEST GROWTH: 2014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777240" y="425196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YoY growth peaked at 15.04% — the highest annual growth in the period.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80760" y="3822192"/>
            <a:ext cx="5212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3822192"/>
            <a:ext cx="36576" cy="96012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63640" y="3950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GROWTH MODERATED: 2017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6263640" y="425196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YoY growth slowed to 3.64%, indicating moderating momentum despite continued growth.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94360" y="4919472"/>
            <a:ext cx="5212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4919472"/>
            <a:ext cx="36576" cy="96012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77240" y="50474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SEASONAL PATTERN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777240" y="534924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Higher demand observed in Q3 and Q4 every year, with July peaking at ~1.0M.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080760" y="4919472"/>
            <a:ext cx="5212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80760" y="4919472"/>
            <a:ext cx="36576" cy="96012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263640" y="50474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BROAD-BASED DEMAND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6263640" y="534924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Consistent growth observed across all stores and products — no single dominant driver.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7132320" y="6391656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Demand Intelligence  ·  Retail Demand Analysis &amp; Forecasting  ·  3</a:t>
            </a:r>
            <a:endParaRPr lang="en-US" sz="8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03</a:t>
            </a:r>
            <a:r>
              <a:rPr lang="en-US" sz="1000" kern="0" spc="14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 ·  DEMAND OVERVIEW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94360" y="694944"/>
            <a:ext cx="10820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Demand grew consistently — with clear seasonal patterns every year.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719072"/>
            <a:ext cx="11002975" cy="16459"/>
          </a:xfrm>
          <a:prstGeom prst="rect">
            <a:avLst/>
          </a:prstGeom>
          <a:solidFill>
            <a:srgbClr val="DDE2F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6858000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</p:spPr>
      </p:sp>
      <p:pic>
        <p:nvPicPr>
          <p:cNvPr id="7" name="Image 0" descr="di/p1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74520"/>
            <a:ext cx="6766560" cy="2724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468172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Monthly demand with 3-month moving average — the smoothed line reduces short-term noise to reveal the broader trend.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452360" y="1874520"/>
            <a:ext cx="4096512" cy="96012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680960" y="2029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C8B8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UPWARD TRAJECTORY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7680960" y="23225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Demand rose from ~0.4M to above 1.0M over 5 years.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452360" y="2944368"/>
            <a:ext cx="4096512" cy="960120"/>
          </a:xfrm>
          <a:prstGeom prst="rect">
            <a:avLst/>
          </a:prstGeom>
          <a:solidFill>
            <a:srgbClr val="E8EBF8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80960" y="3090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RECURRING PEAKS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768096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Each year shows a visible mid-year peak followed by a seasonal dip — demand is not uniform.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406640" y="3977640"/>
            <a:ext cx="418795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</p:spPr>
      </p:sp>
      <p:pic>
        <p:nvPicPr>
          <p:cNvPr id="16" name="Image 1" descr="di/p1_seaso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4023360"/>
            <a:ext cx="4096512" cy="20574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452360" y="614476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Average monthly demand — July peaks at ~1.0M.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7132320" y="6391656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Demand Intelligence  ·  Retail Demand Analysis &amp; Forecasting  ·  4</a:t>
            </a:r>
            <a:endParaRPr lang="en-US" sz="8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1000" kern="0" spc="14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 ·  DEMAND OVERVIEW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94360" y="694944"/>
            <a:ext cx="10820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Demand grew every year — but the rate of growth is slowing.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719072"/>
            <a:ext cx="11002975" cy="16459"/>
          </a:xfrm>
          <a:prstGeom prst="rect">
            <a:avLst/>
          </a:prstGeom>
          <a:solidFill>
            <a:srgbClr val="DDE2F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79552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</p:spPr>
      </p:sp>
      <p:pic>
        <p:nvPicPr>
          <p:cNvPr id="7" name="Image 0" descr="di/p1_year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74520"/>
            <a:ext cx="7863840" cy="2450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44165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Annual demand (bars) with year-over-year growth rate (purple line) — Dashboard 1 of 3.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4828032"/>
            <a:ext cx="199339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" y="4937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758952" y="52303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8M</a:t>
            </a:r>
            <a:endParaRPr lang="en-US" sz="1900" dirty="0">
              <a:latin typeface="Montserrat" pitchFamily="2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758952" y="5577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770632" y="4828032"/>
            <a:ext cx="1993392" cy="1234440"/>
          </a:xfrm>
          <a:prstGeom prst="rect">
            <a:avLst/>
          </a:prstGeom>
          <a:solidFill>
            <a:srgbClr val="12239E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35224" y="4937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B8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2935224" y="52303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9M</a:t>
            </a:r>
            <a:endParaRPr lang="en-US" sz="1900" dirty="0">
              <a:latin typeface="Montserrat" pitchFamily="2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2935224" y="5577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B8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YoY: 15.04%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946904" y="4828032"/>
            <a:ext cx="199339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11496" y="4937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5111496" y="52303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10M</a:t>
            </a:r>
            <a:endParaRPr lang="en-US" sz="1900" dirty="0">
              <a:latin typeface="Montserrat" pitchFamily="2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5111496" y="5577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YoY: 4.39%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123176" y="4828032"/>
            <a:ext cx="199339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287768" y="4937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7287768" y="52303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10M</a:t>
            </a:r>
            <a:endParaRPr lang="en-US" sz="1900" dirty="0">
              <a:latin typeface="Montserrat" pitchFamily="2" charset="0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7287768" y="5577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YoY: 8.60%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9299448" y="4828032"/>
            <a:ext cx="199339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464040" y="4937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9464040" y="52303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11M</a:t>
            </a:r>
            <a:endParaRPr lang="en-US" sz="1900" dirty="0">
              <a:latin typeface="Montserrat" pitchFamily="2" charset="0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9464040" y="5577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YoY: 3.64%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594360" y="618134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Strong demand levels do not always mean strong growth momentum — both metrics should be tracked together.</a:t>
            </a:r>
            <a:endParaRPr lang="en-US" sz="1250" dirty="0">
              <a:latin typeface="Montserrat" pitchFamily="2" charset="0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7132320" y="6391656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Demand Intelligence  ·  Retail Demand Analysis &amp; Forecasting  ·  5</a:t>
            </a:r>
            <a:endParaRPr lang="en-US" sz="8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05</a:t>
            </a:r>
            <a:r>
              <a:rPr lang="en-US" sz="1000" kern="0" spc="14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 ·  PERFORMANCE ANALYSIS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94360" y="694944"/>
            <a:ext cx="10820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Store 02 and Product 15 lead — but demand is broadly distributed.</a:t>
            </a:r>
            <a:endParaRPr lang="en-US" sz="2900" dirty="0">
              <a:latin typeface="Montserrat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719072"/>
            <a:ext cx="11002975" cy="16459"/>
          </a:xfrm>
          <a:prstGeom prst="rect">
            <a:avLst/>
          </a:prstGeom>
          <a:solidFill>
            <a:srgbClr val="DDE2F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901952"/>
            <a:ext cx="2560320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DE2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2084832"/>
            <a:ext cx="2267712" cy="656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Store 02</a:t>
            </a:r>
            <a:endParaRPr lang="en-US" sz="2600" dirty="0">
              <a:latin typeface="Montserrat" pitchFamily="2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95528" y="2659075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TOP STORE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95528" y="2898831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6.12M total demand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37560" y="1901952"/>
            <a:ext cx="2560320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DE2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38728" y="2084832"/>
            <a:ext cx="2267712" cy="656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Product 15</a:t>
            </a:r>
            <a:endParaRPr lang="en-US" sz="2600" dirty="0">
              <a:latin typeface="Montserrat" pitchFamily="2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538728" y="2659075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TOP PRODUCT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538728" y="2898831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1.61M total demand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80760" y="1901952"/>
            <a:ext cx="2560320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DE2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81928" y="2084832"/>
            <a:ext cx="2267712" cy="656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C2DB6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36.5%</a:t>
            </a:r>
            <a:endParaRPr lang="en-US" sz="2600" dirty="0">
              <a:latin typeface="Montserrat" pitchFamily="2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281928" y="2659075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TOP 3 STORES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281928" y="2898831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of total demand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823960" y="1901952"/>
            <a:ext cx="2560320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DE2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25128" y="2084832"/>
            <a:ext cx="2267712" cy="656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C2DB6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31.4%</a:t>
            </a:r>
            <a:endParaRPr lang="en-US" sz="2600" dirty="0">
              <a:latin typeface="Montserrat" pitchFamily="2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9025128" y="2659075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TOP 10 PRODUCTS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9025128" y="2898831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of total demand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3264408"/>
            <a:ext cx="5669280" cy="2907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</p:spPr>
      </p:sp>
      <p:pic>
        <p:nvPicPr>
          <p:cNvPr id="23" name="Image 0" descr="di/p2_st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10128"/>
            <a:ext cx="5577840" cy="281635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94360" y="619963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Store demand ranking — Dashboard 2 of 3.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629400" y="3310128"/>
            <a:ext cx="4873752" cy="2816352"/>
          </a:xfrm>
          <a:prstGeom prst="rect">
            <a:avLst/>
          </a:prstGeom>
          <a:solidFill>
            <a:srgbClr val="E8EBF8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0" y="354787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WHAT THE RANKING TELLS US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858000" y="4032504"/>
            <a:ext cx="73152" cy="73152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095744" y="395020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Store 02 leads at 6.1M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7095744" y="420624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Top performer, but accounts for roughly 12.8% of total demand.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858000" y="4562856"/>
            <a:ext cx="73152" cy="73152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095744" y="44805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The ranking is competitive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7095744" y="473659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Stores 02 through 10 are within a 3M range — no outlier dominance.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6858000" y="5093208"/>
            <a:ext cx="73152" cy="73152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095744" y="501091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Remaining 7 stores: 63.5%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35" name="Text 32"/>
          <p:cNvSpPr txBox="1"/>
          <p:nvPr/>
        </p:nvSpPr>
        <p:spPr>
          <a:xfrm>
            <a:off x="7095744" y="5266944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The majority of demand comes from outside the top 3.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858000" y="5623560"/>
            <a:ext cx="73152" cy="73152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095744" y="554126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Business resilience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38" name="Text 35"/>
          <p:cNvSpPr txBox="1"/>
          <p:nvPr/>
        </p:nvSpPr>
        <p:spPr>
          <a:xfrm>
            <a:off x="7095744" y="5797296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No single store is large enough to threaten total demand stability.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9" name="Text 36"/>
          <p:cNvSpPr txBox="1"/>
          <p:nvPr/>
        </p:nvSpPr>
        <p:spPr>
          <a:xfrm>
            <a:off x="7132320" y="6391656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Demand Intelligence  ·  Retail Demand Analysis &amp; Forecasting  ·  6</a:t>
            </a:r>
            <a:endParaRPr lang="en-US" sz="8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06</a:t>
            </a:r>
            <a:r>
              <a:rPr lang="en-US" sz="1000" kern="0" spc="14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 ·  PERFORMANCE ANALYSIS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94360" y="694944"/>
            <a:ext cx="10820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Demand is diversified — no single contributor dominates.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719072"/>
            <a:ext cx="11002975" cy="16459"/>
          </a:xfrm>
          <a:prstGeom prst="rect">
            <a:avLst/>
          </a:prstGeom>
          <a:solidFill>
            <a:srgbClr val="DDE2F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56232"/>
            <a:ext cx="11094415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</p:spPr>
      </p:sp>
      <p:pic>
        <p:nvPicPr>
          <p:cNvPr id="7" name="Image 0" descr="di/p2_co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01952"/>
            <a:ext cx="11002975" cy="15727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3566160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Store and product concentration analysis — top contributors vs remaining business. Dashboard 2 of 3.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3950208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3950208"/>
            <a:ext cx="36576" cy="219456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41148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STORE CONCENTRATION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777240" y="44074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36.5%</a:t>
            </a:r>
            <a:endParaRPr lang="en-US" sz="2800" dirty="0">
              <a:latin typeface="Montserrat" pitchFamily="2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2240280" y="44805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Top 3 Stores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777240" y="49560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63.5%  Remaining 7 Stores</a:t>
            </a:r>
            <a:endParaRPr lang="en-US" sz="1250" dirty="0">
              <a:latin typeface="Montserrat" pitchFamily="2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777240" y="5321808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The top three stores — Store 02, Store 08, Store 03 — together account for just over a third of total demand. The broader store network generates the majority.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080760" y="3950208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80760" y="3950208"/>
            <a:ext cx="36576" cy="2194560"/>
          </a:xfrm>
          <a:prstGeom prst="rect">
            <a:avLst/>
          </a:prstGeom>
          <a:solidFill>
            <a:srgbClr val="5C2DB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263640" y="41148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5C2DB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PRODUCT CONCENTRATION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6263640" y="44074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C2DB6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31.4%</a:t>
            </a:r>
            <a:endParaRPr lang="en-US" sz="2800" dirty="0">
              <a:latin typeface="Montserrat" pitchFamily="2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7726680" y="44805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Top 10 Products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6263640" y="49560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68.6%  Remaining 40 Products</a:t>
            </a:r>
            <a:endParaRPr lang="en-US" sz="1250" dirty="0">
              <a:latin typeface="Montserrat" pitchFamily="2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6263640" y="5321808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Even the top 10 products, from a portfolio of 50, contribute less than a third of demand. The product base is genuinely broad — no single item is disproportionately critical.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94360" y="6291072"/>
            <a:ext cx="11002975" cy="45720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68680" y="6291072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Diversified demand = greater resilience. No single store closure or product failure would critically disrupt overall demand.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7132320" y="6391656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Demand Intelligence  ·  Retail Demand Analysis &amp; Forecasting  ·  7</a:t>
            </a:r>
            <a:endParaRPr lang="en-US" sz="8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07</a:t>
            </a:r>
            <a:r>
              <a:rPr lang="en-US" sz="1000" kern="0" spc="14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 ·  DEMAND FORECAST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94360" y="694944"/>
            <a:ext cx="10820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The forecast continues the historical trajectory — with widening uncertainty.</a:t>
            </a:r>
            <a:endParaRPr lang="en-US" sz="2800" dirty="0">
              <a:latin typeface="Montserrat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719072"/>
            <a:ext cx="11002975" cy="16459"/>
          </a:xfrm>
          <a:prstGeom prst="rect">
            <a:avLst/>
          </a:prstGeom>
          <a:solidFill>
            <a:srgbClr val="DDE2F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901952"/>
            <a:ext cx="256032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DDE2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2084832"/>
            <a:ext cx="2267712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26.4K</a:t>
            </a:r>
            <a:endParaRPr lang="en-US" sz="2600" dirty="0">
              <a:latin typeface="Montserrat" pitchFamily="2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95528" y="264261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LATEST DEMAND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95528" y="287716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Dec 2017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37560" y="1901952"/>
            <a:ext cx="256032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DDE2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38728" y="2084832"/>
            <a:ext cx="2267712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838.39K</a:t>
            </a:r>
            <a:endParaRPr lang="en-US" sz="2600" dirty="0">
              <a:latin typeface="Montserrat" pitchFamily="2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538728" y="264261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3-MONTH AVG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538728" y="287716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Oct – Dec 2017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80760" y="1901952"/>
            <a:ext cx="256032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DDE2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81928" y="2084832"/>
            <a:ext cx="2267712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C2DB6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12 Months</a:t>
            </a:r>
            <a:endParaRPr lang="en-US" sz="2600" dirty="0">
              <a:latin typeface="Montserrat" pitchFamily="2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281928" y="264261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FORECAST HORIZON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281928" y="287716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2018 Outlook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823960" y="1901952"/>
            <a:ext cx="256032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DDE2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25128" y="2084832"/>
            <a:ext cx="2267712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95%</a:t>
            </a:r>
            <a:endParaRPr lang="en-US" sz="2600" dirty="0">
              <a:latin typeface="Montserrat" pitchFamily="2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9025128" y="264261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CONFIDENCE LEVEL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9025128" y="287716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Forecast interval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3209544"/>
            <a:ext cx="11094415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</p:spPr>
      </p:sp>
      <p:pic>
        <p:nvPicPr>
          <p:cNvPr id="23" name="Image 0" descr="di/p3_outl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55264"/>
            <a:ext cx="11002975" cy="283464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94360" y="6163056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Demand Outlook — actual demand (navy), forecast (purple dashed), and confidence interval (shaded band). Dashboard 3 of 3.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7132320" y="6391656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Demand Intelligence  ·  Retail Demand Analysis &amp; Forecasting  ·  8</a:t>
            </a:r>
            <a:endParaRPr lang="en-US" sz="8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08</a:t>
            </a:r>
            <a:r>
              <a:rPr lang="en-US" sz="1000" kern="0" spc="14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 ·  DEMAND FORECAST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94360" y="694944"/>
            <a:ext cx="10820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Seasonality continues into the forecast — peaks expected in Q3.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719072"/>
            <a:ext cx="11002975" cy="16459"/>
          </a:xfrm>
          <a:prstGeom prst="rect">
            <a:avLst/>
          </a:prstGeom>
          <a:solidFill>
            <a:srgbClr val="DDE2F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56232"/>
            <a:ext cx="694944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</p:spPr>
      </p:sp>
      <p:pic>
        <p:nvPicPr>
          <p:cNvPr id="7" name="Image 0" descr="di/p3_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36698"/>
            <a:ext cx="6858000" cy="18672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38862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Monthly forecast pattern based on historical seasonality. Expected average demand by month.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94360" y="42793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Jan–Feb: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600200" y="42793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2DB6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~0.6M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2834640" y="427939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Lowest expected demand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594360" y="478231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Mar–Apr: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600200" y="478231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2DB6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~0.7–0.8M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2834640" y="478231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Building toward mid-year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594360" y="52852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May–Jul: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600200" y="52852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2DB6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~0.9–1.0M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2834640" y="528523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Peak demand period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594360" y="578815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Aug–Dec: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1600200" y="578815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2DB6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~0.6–0.8M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2834640" y="578815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Gradual moderation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406640" y="1856232"/>
            <a:ext cx="4187952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</p:spPr>
      </p:sp>
      <p:pic>
        <p:nvPicPr>
          <p:cNvPr id="22" name="Image 1" descr="di/p3_insigh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901952"/>
            <a:ext cx="4096512" cy="190195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452360" y="3886200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Forecast Insights panel from Dashboard 3.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7452360" y="4279392"/>
            <a:ext cx="409651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662672" y="4434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5C2DB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IMPORTANT: INTERPRETING THE FORECAST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7662672" y="4919472"/>
            <a:ext cx="73152" cy="73152"/>
          </a:xfrm>
          <a:prstGeom prst="rect">
            <a:avLst/>
          </a:prstGeom>
          <a:solidFill>
            <a:srgbClr val="5C2DB6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863840" y="482803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The forecast reflects historical seasonal patterns — it is not a guaranteed outcome.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7662672" y="5239512"/>
            <a:ext cx="73152" cy="73152"/>
          </a:xfrm>
          <a:prstGeom prst="rect">
            <a:avLst/>
          </a:prstGeom>
          <a:solidFill>
            <a:srgbClr val="5C2DB6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0" y="51480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Confidence intervals widen further into the forecast period.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7662672" y="5559552"/>
            <a:ext cx="73152" cy="73152"/>
          </a:xfrm>
          <a:prstGeom prst="rect">
            <a:avLst/>
          </a:prstGeom>
          <a:solidFill>
            <a:srgbClr val="5C2DB6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863840" y="546811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External factors (promotions, pricing, market conditions) are not in the model.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7662672" y="5879592"/>
            <a:ext cx="73152" cy="73152"/>
          </a:xfrm>
          <a:prstGeom prst="rect">
            <a:avLst/>
          </a:prstGeom>
          <a:solidFill>
            <a:srgbClr val="5C2DB6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863840" y="578815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Use as planning guidance, not as a prediction.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4" name="Text 30"/>
          <p:cNvSpPr txBox="1"/>
          <p:nvPr/>
        </p:nvSpPr>
        <p:spPr>
          <a:xfrm>
            <a:off x="7132320" y="6391656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Demand Intelligence  ·  Retail Demand Analysis &amp; Forecasting  ·  9</a:t>
            </a:r>
            <a:endParaRPr lang="en-US" sz="8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09</a:t>
            </a:r>
            <a:r>
              <a:rPr lang="en-US" sz="1000" kern="0" spc="14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 ·  KEY FINDINGS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94360" y="694944"/>
            <a:ext cx="10820095" cy="617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Five findings from the analysis.</a:t>
            </a:r>
            <a:endParaRPr lang="en-US" sz="3300" dirty="0">
              <a:latin typeface="Montserrat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436897"/>
            <a:ext cx="11002975" cy="16459"/>
          </a:xfrm>
          <a:prstGeom prst="rect">
            <a:avLst/>
          </a:prstGeom>
          <a:solidFill>
            <a:srgbClr val="DDE2F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77466"/>
            <a:ext cx="3401568" cy="2487168"/>
          </a:xfrm>
          <a:prstGeom prst="rect">
            <a:avLst/>
          </a:prstGeom>
          <a:solidFill>
            <a:srgbClr val="12239E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176034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B8F0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500" dirty="0">
              <a:latin typeface="Montserrat" pitchFamily="2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95528" y="212610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C8B8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TOTAL DEMAND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95528" y="243700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47.70M</a:t>
            </a:r>
            <a:endParaRPr lang="en-US" sz="2200" dirty="0">
              <a:latin typeface="Montserrat" pitchFamily="2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95528" y="294906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0D0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Historical demand across 10 stores and 50 products, January 2013 to December 2017. The business generated substantial and growing demand over the period.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97680" y="1577466"/>
            <a:ext cx="3401568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98848" y="176034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500" dirty="0">
              <a:latin typeface="Montserrat" pitchFamily="2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498848" y="212610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GROWTH MODERATED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498848" y="243700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3.64% (2017)</a:t>
            </a:r>
            <a:endParaRPr lang="en-US" sz="2200" dirty="0">
              <a:latin typeface="Montserrat" pitchFamily="2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498848" y="294906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Strongest growth was 15.04% in 2014. By 2017 growth had slowed to 3.64% — demand remained positive but expansion moderated.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01000" y="1577466"/>
            <a:ext cx="3401568" cy="2487168"/>
          </a:xfrm>
          <a:prstGeom prst="rect">
            <a:avLst/>
          </a:prstGeom>
          <a:solidFill>
            <a:srgbClr val="12239E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02168" y="176034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B8F0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500" dirty="0">
              <a:latin typeface="Montserrat" pitchFamily="2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02168" y="212610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C8B8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JULY PEAKS EVERY YEAR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202168" y="243700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~1.0M avg</a:t>
            </a:r>
            <a:endParaRPr lang="en-US" sz="2200" dirty="0">
              <a:latin typeface="Montserrat" pitchFamily="2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202168" y="294906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0D0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 recurring mid-year seasonal peak occurs annually. This consistent pattern is the foundation of the forecast model.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423160" y="4128642"/>
            <a:ext cx="3401568" cy="2276856"/>
          </a:xfrm>
          <a:prstGeom prst="rect">
            <a:avLst/>
          </a:prstGeom>
          <a:solidFill>
            <a:srgbClr val="FFFFFF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24328" y="4378439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500" dirty="0">
              <a:latin typeface="Montserrat" pitchFamily="2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2624328" y="4744199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STORE CONCENTRATION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2624328" y="5055095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36.5%</a:t>
            </a:r>
            <a:endParaRPr lang="en-US" sz="2200" dirty="0">
              <a:latin typeface="Montserrat" pitchFamily="2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2615184" y="5530583"/>
            <a:ext cx="3108960" cy="785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Top 3 stores </a:t>
            </a:r>
            <a:r>
              <a:rPr lang="en-US" sz="10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contribute</a:t>
            </a:r>
            <a:r>
              <a:rPr lang="en-US" sz="105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36.5%. The remaining 7 stores generate 63.5% — demand is broadly distributed, not dominated by a few locations.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126480" y="4128642"/>
            <a:ext cx="3401568" cy="2276856"/>
          </a:xfrm>
          <a:prstGeom prst="rect">
            <a:avLst/>
          </a:prstGeom>
          <a:solidFill>
            <a:srgbClr val="FFFFFF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27648" y="433438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500" dirty="0">
              <a:latin typeface="Montserrat" pitchFamily="2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6327648" y="470014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PRODUCT CONCENTRATION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327648" y="505218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31.4%</a:t>
            </a:r>
            <a:endParaRPr lang="en-US" sz="2200" dirty="0">
              <a:latin typeface="Montserrat" pitchFamily="2" charset="0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6327648" y="539965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Top 10 products contribute 31.4%. The remaining 40 generate 68.6% — the portfolio is genuinely broad.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7132320" y="6391656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Demand Intelligence  ·  Retail Demand Analysis &amp; Forecasting  ·  10</a:t>
            </a:r>
            <a:endParaRPr lang="en-US" sz="8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C2DB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B8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000" kern="0" spc="140" dirty="0">
                <a:solidFill>
                  <a:srgbClr val="7B90C8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 ·  RECOMMENDATIONS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94360" y="713232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Four actions emerge from the analysis.</a:t>
            </a:r>
            <a:endParaRPr lang="en-US" sz="3200" dirty="0">
              <a:latin typeface="Montserrat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700784"/>
            <a:ext cx="11002975" cy="16459"/>
          </a:xfrm>
          <a:prstGeom prst="rect">
            <a:avLst/>
          </a:prstGeom>
          <a:solidFill>
            <a:srgbClr val="2A3F9E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029968"/>
            <a:ext cx="11002975" cy="16459"/>
          </a:xfrm>
          <a:prstGeom prst="rect">
            <a:avLst/>
          </a:prstGeom>
          <a:solidFill>
            <a:srgbClr val="1A2F9E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2194560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5C2D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1945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572768" y="215798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C8B8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01  PLAN FOR SEASONAL DEMAND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773168" y="215798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90C8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July peaks at ~1.0M every year · Q3 highest demand period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863840" y="2121408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Use historical seasonal patterns to prepare inventory, staffing, and operational resources ahead of the mid-year peak rather than reacting after demand increases.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4360" y="2990088"/>
            <a:ext cx="11002975" cy="16459"/>
          </a:xfrm>
          <a:prstGeom prst="rect">
            <a:avLst/>
          </a:prstGeom>
          <a:solidFill>
            <a:srgbClr val="1A2F9E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3154680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5C2D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15468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572768" y="311810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C8B8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02  MONITOR GROWTH ALONGSIDE TOTAL DEMAND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773168" y="31181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90C8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YoY growth fell from 15.04% to 3.64% over 4 years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863840" y="3081528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Track both total demand and year-over-year growth rate. Strong demand levels do not always indicate strong growth momentum — the two metrics together tell a more complete story.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4360" y="3950208"/>
            <a:ext cx="11002975" cy="16459"/>
          </a:xfrm>
          <a:prstGeom prst="rect">
            <a:avLst/>
          </a:prstGeom>
          <a:solidFill>
            <a:srgbClr val="1A2F9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4114800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1A2F9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411480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572768" y="407822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C8B8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03  MAINTAIN VISIBILITY ACROSS THE FULL NETWORK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773168" y="40782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90C8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63.5% of demand from stores outside the top 3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863840" y="4041648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Monitor all 10 stores — not just the top performers. The broader store network generates the majority of demand; changes there could significantly affect overall performance.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4360" y="4910328"/>
            <a:ext cx="11002975" cy="16459"/>
          </a:xfrm>
          <a:prstGeom prst="rect">
            <a:avLst/>
          </a:prstGeom>
          <a:solidFill>
            <a:srgbClr val="1A2F9E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5074920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0E1D6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50749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7B90C8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572768" y="503834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C8B8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04  USE FORECASTS AS PLANNING GUIDANCE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4773168" y="503834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90C8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95% confidence interval · Uncertainty widens over time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7863840" y="5001768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Compare actual demand against forecasts regularly. Use short-term forecasts for operational decisions; treat longer-term forecasts as scenario planning inputs, not guarantees.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4360" y="5870448"/>
            <a:ext cx="11002975" cy="16459"/>
          </a:xfrm>
          <a:prstGeom prst="rect">
            <a:avLst/>
          </a:prstGeom>
          <a:solidFill>
            <a:srgbClr val="1A2F9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94360" y="59893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880C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Every recommendation traces directly to an observed finding. Forecasts support planning — they should not be treated as guaranteed outcomes.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7132320" y="6391656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A3F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Demand Intelligence  ·  Retail Demand Analysis &amp; Forecasting  ·  11</a:t>
            </a:r>
            <a:endParaRPr lang="en-US" sz="8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394960" cy="73152"/>
          </a:xfrm>
          <a:prstGeom prst="rect">
            <a:avLst/>
          </a:prstGeom>
          <a:solidFill>
            <a:srgbClr val="5C2DB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402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B8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11</a:t>
            </a:r>
            <a:r>
              <a:rPr lang="en-US" sz="1000" kern="0" spc="200" dirty="0">
                <a:solidFill>
                  <a:srgbClr val="6880C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 ·  ANALYST TAKEAWAY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4663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The goal is not</a:t>
            </a:r>
            <a:endParaRPr lang="en-US" sz="2800" dirty="0">
              <a:latin typeface="Montserrat" pitchFamily="2" charset="0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just to describe</a:t>
            </a:r>
            <a:endParaRPr lang="en-US" sz="2800" dirty="0">
              <a:latin typeface="Montserrat" pitchFamily="2" charset="0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what happened.</a:t>
            </a:r>
            <a:endParaRPr lang="en-US" sz="280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731520" cy="36576"/>
          </a:xfrm>
          <a:prstGeom prst="rect">
            <a:avLst/>
          </a:prstGeom>
          <a:solidFill>
            <a:srgbClr val="5C2D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971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A8B8E0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It is to identify the signals that should drive</a:t>
            </a:r>
            <a:endParaRPr lang="en-US" sz="1600" dirty="0">
              <a:latin typeface="Montserrat" pitchFamily="2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A8B8E0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future planning decisions.</a:t>
            </a:r>
            <a:endParaRPr lang="en-US" sz="160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4663440" cy="16459"/>
          </a:xfrm>
          <a:prstGeom prst="rect">
            <a:avLst/>
          </a:prstGeom>
          <a:solidFill>
            <a:srgbClr val="2A3F9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41148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C8B8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WHAT THE DATA DOES NOT PROVE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4626864"/>
            <a:ext cx="73152" cy="73152"/>
          </a:xfrm>
          <a:prstGeom prst="rect">
            <a:avLst/>
          </a:prstGeom>
          <a:solidFill>
            <a:srgbClr val="C8B8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" y="451713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The forecast does not guarantee future demand.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4992624"/>
            <a:ext cx="73152" cy="73152"/>
          </a:xfrm>
          <a:prstGeom prst="rect">
            <a:avLst/>
          </a:prstGeom>
          <a:solidFill>
            <a:srgbClr val="C8B8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" y="488289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Concentration analysis does not identify root causes of performance differences.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5358384"/>
            <a:ext cx="73152" cy="73152"/>
          </a:xfrm>
          <a:prstGeom prst="rect">
            <a:avLst/>
          </a:prstGeom>
          <a:solidFill>
            <a:srgbClr val="C8B8F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4944" y="524865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F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The model excludes promotions, pricing, inventory, and external factors.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5760720"/>
            <a:ext cx="4663440" cy="16459"/>
          </a:xfrm>
          <a:prstGeom prst="rect">
            <a:avLst/>
          </a:prstGeom>
          <a:solidFill>
            <a:srgbClr val="2A3F9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59253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80C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Power BI  ·  SQL Server  ·  DAX  ·  Data Modeling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57200" y="62362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Edward Jon Arquiza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5943600" y="45720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090B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THE COMPLETE ANALYTICAL STORY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43600" y="868680"/>
            <a:ext cx="5669280" cy="841248"/>
          </a:xfrm>
          <a:prstGeom prst="rect">
            <a:avLst/>
          </a:prstGeom>
          <a:solidFill>
            <a:srgbClr val="F5F6FA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08192" y="960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47.70M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046720" y="9235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Strong overall demand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046720" y="11978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Growing across all 5 years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108192" y="16733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943600" y="1828800"/>
            <a:ext cx="5669280" cy="841248"/>
          </a:xfrm>
          <a:prstGeom prst="rect">
            <a:avLst/>
          </a:prstGeom>
          <a:solidFill>
            <a:srgbClr val="12239E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08192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B8F0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3.64%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8046720" y="1883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Moderating growth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8046720" y="21579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E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Lowest YoY rate in 2017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108192" y="2633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43600" y="2788920"/>
            <a:ext cx="5669280" cy="841248"/>
          </a:xfrm>
          <a:prstGeom prst="rect">
            <a:avLst/>
          </a:prstGeom>
          <a:solidFill>
            <a:srgbClr val="F5F6FA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08192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July = 1.0M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046720" y="28437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Seasonal peak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046720" y="3118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Recurring every year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6108192" y="35935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943600" y="3749040"/>
            <a:ext cx="5669280" cy="841248"/>
          </a:xfrm>
          <a:prstGeom prst="rect">
            <a:avLst/>
          </a:prstGeom>
          <a:solidFill>
            <a:srgbClr val="F5F6FA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08192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36.5%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8046720" y="3803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Diversified stores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8046720" y="40782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Top 3 = minority of demand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6108192" y="45537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943600" y="4709160"/>
            <a:ext cx="5669280" cy="841248"/>
          </a:xfrm>
          <a:prstGeom prst="rect">
            <a:avLst/>
          </a:prstGeom>
          <a:solidFill>
            <a:srgbClr val="F5F6FA"/>
          </a:solidFill>
          <a:ln w="6350">
            <a:solidFill>
              <a:srgbClr val="DDE2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08192" y="4800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2239E"/>
                </a:solidFill>
                <a:latin typeface="Montserrat" pitchFamily="2" charset="0"/>
                <a:ea typeface="Calibri Light" pitchFamily="34" charset="-122"/>
                <a:cs typeface="Calibri Light" pitchFamily="34" charset="-120"/>
              </a:rPr>
              <a:t>31.4%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8046720" y="47640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9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Diversified products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8046720" y="50383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B6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Top 10 = minority of demand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943600" y="5742432"/>
            <a:ext cx="5669280" cy="457200"/>
          </a:xfrm>
          <a:prstGeom prst="rect">
            <a:avLst/>
          </a:prstGeom>
          <a:solidFill>
            <a:srgbClr val="12239E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943600" y="57424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Understand the Past  →  Identify the Drivers  →  Prepare for the Future</a:t>
            </a:r>
            <a:endParaRPr lang="en-US" sz="11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2061</Words>
  <Application>Microsoft Office PowerPoint</Application>
  <PresentationFormat>Widescreen</PresentationFormat>
  <Paragraphs>277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Montserrat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 Intelligence – Retail Demand Analysis &amp; Forecasting</dc:title>
  <dc:subject>PptxGenJS Presentation</dc:subject>
  <dc:creator>Edward Jon Arquiza</dc:creator>
  <cp:lastModifiedBy>USER</cp:lastModifiedBy>
  <cp:revision>5</cp:revision>
  <dcterms:created xsi:type="dcterms:W3CDTF">2026-09-04T03:29:16Z</dcterms:created>
  <dcterms:modified xsi:type="dcterms:W3CDTF">2026-09-04T06:18:34Z</dcterms:modified>
</cp:coreProperties>
</file>